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26"/>
  </p:notesMasterIdLst>
  <p:sldIdLst>
    <p:sldId id="257" r:id="rId2"/>
    <p:sldId id="258" r:id="rId3"/>
    <p:sldId id="280" r:id="rId4"/>
    <p:sldId id="263" r:id="rId5"/>
    <p:sldId id="260" r:id="rId6"/>
    <p:sldId id="275" r:id="rId7"/>
    <p:sldId id="277" r:id="rId8"/>
    <p:sldId id="283" r:id="rId9"/>
    <p:sldId id="286" r:id="rId10"/>
    <p:sldId id="284" r:id="rId11"/>
    <p:sldId id="268" r:id="rId12"/>
    <p:sldId id="264" r:id="rId13"/>
    <p:sldId id="281" r:id="rId14"/>
    <p:sldId id="287" r:id="rId15"/>
    <p:sldId id="288" r:id="rId16"/>
    <p:sldId id="266" r:id="rId17"/>
    <p:sldId id="267" r:id="rId18"/>
    <p:sldId id="282" r:id="rId19"/>
    <p:sldId id="271" r:id="rId20"/>
    <p:sldId id="285" r:id="rId21"/>
    <p:sldId id="273" r:id="rId22"/>
    <p:sldId id="272" r:id="rId23"/>
    <p:sldId id="278" r:id="rId24"/>
    <p:sldId id="26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89263" autoAdjust="0"/>
  </p:normalViewPr>
  <p:slideViewPr>
    <p:cSldViewPr>
      <p:cViewPr varScale="1">
        <p:scale>
          <a:sx n="70" d="100"/>
          <a:sy n="70" d="100"/>
        </p:scale>
        <p:origin x="1949" y="58"/>
      </p:cViewPr>
      <p:guideLst>
        <p:guide orient="horz" pos="2160"/>
        <p:guide pos="2880"/>
      </p:guideLst>
    </p:cSldViewPr>
  </p:slideViewPr>
  <p:outlineViewPr>
    <p:cViewPr>
      <p:scale>
        <a:sx n="33" d="100"/>
        <a:sy n="33" d="100"/>
      </p:scale>
      <p:origin x="0" y="-222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556649-92C6-49D0-8776-ABC7A0BD540E}" type="doc">
      <dgm:prSet loTypeId="urn:microsoft.com/office/officeart/2005/8/layout/vList5" loCatId="list" qsTypeId="urn:microsoft.com/office/officeart/2005/8/quickstyle/simple2" qsCatId="simple" csTypeId="urn:microsoft.com/office/officeart/2005/8/colors/accent6_2" csCatId="accent6" phldr="1"/>
      <dgm:spPr/>
      <dgm:t>
        <a:bodyPr/>
        <a:lstStyle/>
        <a:p>
          <a:endParaRPr lang="en-US"/>
        </a:p>
      </dgm:t>
    </dgm:pt>
    <dgm:pt modelId="{8462BA00-A302-4CDA-9FA4-E788410459D7}">
      <dgm:prSet/>
      <dgm:spPr/>
      <dgm:t>
        <a:bodyPr/>
        <a:lstStyle/>
        <a:p>
          <a:r>
            <a:rPr lang="en-US" dirty="0"/>
            <a:t>Design</a:t>
          </a:r>
        </a:p>
      </dgm:t>
    </dgm:pt>
    <dgm:pt modelId="{9B2988B4-3E51-4FC2-BE6F-2262DC601B89}" type="parTrans" cxnId="{8C3D071C-1302-444A-92BA-8C7E945B7508}">
      <dgm:prSet/>
      <dgm:spPr/>
      <dgm:t>
        <a:bodyPr/>
        <a:lstStyle/>
        <a:p>
          <a:endParaRPr lang="en-US"/>
        </a:p>
      </dgm:t>
    </dgm:pt>
    <dgm:pt modelId="{D911F9D9-EA8D-47E8-BDBC-8919B8802EC8}" type="sibTrans" cxnId="{8C3D071C-1302-444A-92BA-8C7E945B7508}">
      <dgm:prSet/>
      <dgm:spPr/>
      <dgm:t>
        <a:bodyPr/>
        <a:lstStyle/>
        <a:p>
          <a:endParaRPr lang="en-US"/>
        </a:p>
      </dgm:t>
    </dgm:pt>
    <dgm:pt modelId="{8B3EA8A1-370E-479C-884D-C21A7FDED0B6}">
      <dgm:prSet custT="1"/>
      <dgm:spPr/>
      <dgm:t>
        <a:bodyPr/>
        <a:lstStyle/>
        <a:p>
          <a:r>
            <a:rPr lang="en-US" sz="1600" b="0" dirty="0">
              <a:latin typeface="Times New Roman" panose="02020603050405020304" pitchFamily="18" charset="0"/>
              <a:cs typeface="Times New Roman" panose="02020603050405020304" pitchFamily="18" charset="0"/>
            </a:rPr>
            <a:t>Design a reliable 72V battery pack architecture</a:t>
          </a:r>
          <a:r>
            <a:rPr lang="en-US" sz="1600" dirty="0">
              <a:latin typeface="Times New Roman" panose="02020603050405020304" pitchFamily="18" charset="0"/>
              <a:cs typeface="Times New Roman" panose="02020603050405020304" pitchFamily="18" charset="0"/>
            </a:rPr>
            <a:t>.</a:t>
          </a:r>
        </a:p>
      </dgm:t>
    </dgm:pt>
    <dgm:pt modelId="{CDC076EE-E112-4CCD-BB11-9AF0E9A1F283}" type="parTrans" cxnId="{108095F6-BEDD-4F92-841E-746BC1CC6DA0}">
      <dgm:prSet/>
      <dgm:spPr/>
      <dgm:t>
        <a:bodyPr/>
        <a:lstStyle/>
        <a:p>
          <a:endParaRPr lang="en-US"/>
        </a:p>
      </dgm:t>
    </dgm:pt>
    <dgm:pt modelId="{166C06B4-1D31-43B4-86F6-16F9161C79DC}" type="sibTrans" cxnId="{108095F6-BEDD-4F92-841E-746BC1CC6DA0}">
      <dgm:prSet/>
      <dgm:spPr/>
      <dgm:t>
        <a:bodyPr/>
        <a:lstStyle/>
        <a:p>
          <a:endParaRPr lang="en-US"/>
        </a:p>
      </dgm:t>
    </dgm:pt>
    <dgm:pt modelId="{78A7F196-26BD-49EA-9F2E-8853C239D235}">
      <dgm:prSet/>
      <dgm:spPr/>
      <dgm:t>
        <a:bodyPr/>
        <a:lstStyle/>
        <a:p>
          <a:r>
            <a:rPr lang="en-US"/>
            <a:t>Learn</a:t>
          </a:r>
        </a:p>
      </dgm:t>
    </dgm:pt>
    <dgm:pt modelId="{C001FE82-AB64-4525-908A-42F08B867759}" type="parTrans" cxnId="{4CCBA80D-3968-4DFE-85E5-659257DC99D3}">
      <dgm:prSet/>
      <dgm:spPr/>
      <dgm:t>
        <a:bodyPr/>
        <a:lstStyle/>
        <a:p>
          <a:endParaRPr lang="en-US"/>
        </a:p>
      </dgm:t>
    </dgm:pt>
    <dgm:pt modelId="{0A913816-8699-464E-8840-D22CDF4F4A22}" type="sibTrans" cxnId="{4CCBA80D-3968-4DFE-85E5-659257DC99D3}">
      <dgm:prSet/>
      <dgm:spPr/>
      <dgm:t>
        <a:bodyPr/>
        <a:lstStyle/>
        <a:p>
          <a:endParaRPr lang="en-US"/>
        </a:p>
      </dgm:t>
    </dgm:pt>
    <dgm:pt modelId="{0D170DAA-5B60-45A1-AADE-DC69C97DD7AD}">
      <dgm:prSet custT="1"/>
      <dgm:spPr/>
      <dgm:t>
        <a:bodyPr/>
        <a:lstStyle/>
        <a:p>
          <a:r>
            <a:rPr lang="en-US" sz="1600" dirty="0">
              <a:latin typeface="Times New Roman" panose="02020603050405020304" pitchFamily="18" charset="0"/>
              <a:cs typeface="Times New Roman" panose="02020603050405020304" pitchFamily="18" charset="0"/>
            </a:rPr>
            <a:t>Learn cell selection and configuration methods</a:t>
          </a:r>
          <a:r>
            <a:rPr lang="en-US" sz="1300" dirty="0"/>
            <a:t>.</a:t>
          </a:r>
        </a:p>
      </dgm:t>
    </dgm:pt>
    <dgm:pt modelId="{1C34E9FF-12B7-4369-AA88-D8CDEA92DB46}" type="parTrans" cxnId="{6F60B3DD-ED8B-454C-978B-4AE22CDF1987}">
      <dgm:prSet/>
      <dgm:spPr/>
      <dgm:t>
        <a:bodyPr/>
        <a:lstStyle/>
        <a:p>
          <a:endParaRPr lang="en-US"/>
        </a:p>
      </dgm:t>
    </dgm:pt>
    <dgm:pt modelId="{C9AC660C-BCCD-46D1-B4B0-79E5E0C2B9E6}" type="sibTrans" cxnId="{6F60B3DD-ED8B-454C-978B-4AE22CDF1987}">
      <dgm:prSet/>
      <dgm:spPr/>
      <dgm:t>
        <a:bodyPr/>
        <a:lstStyle/>
        <a:p>
          <a:endParaRPr lang="en-US"/>
        </a:p>
      </dgm:t>
    </dgm:pt>
    <dgm:pt modelId="{62ED9D71-8FDF-49DC-9133-276B173CB7D8}">
      <dgm:prSet/>
      <dgm:spPr/>
      <dgm:t>
        <a:bodyPr/>
        <a:lstStyle/>
        <a:p>
          <a:r>
            <a:rPr lang="en-US"/>
            <a:t>Understand</a:t>
          </a:r>
        </a:p>
      </dgm:t>
    </dgm:pt>
    <dgm:pt modelId="{1451EE72-9F21-4E37-A561-70603BEB4BFC}" type="parTrans" cxnId="{5D3CE2B7-7B2C-47DA-A374-7D6FA013ED23}">
      <dgm:prSet/>
      <dgm:spPr/>
      <dgm:t>
        <a:bodyPr/>
        <a:lstStyle/>
        <a:p>
          <a:endParaRPr lang="en-US"/>
        </a:p>
      </dgm:t>
    </dgm:pt>
    <dgm:pt modelId="{A5DC6DD0-0A76-4436-9092-0A8684A668C3}" type="sibTrans" cxnId="{5D3CE2B7-7B2C-47DA-A374-7D6FA013ED23}">
      <dgm:prSet/>
      <dgm:spPr/>
      <dgm:t>
        <a:bodyPr/>
        <a:lstStyle/>
        <a:p>
          <a:endParaRPr lang="en-US"/>
        </a:p>
      </dgm:t>
    </dgm:pt>
    <dgm:pt modelId="{D299C7BE-EACA-48EA-9DA9-5DDBF9A73688}">
      <dgm:prSet custT="1"/>
      <dgm:spPr/>
      <dgm:t>
        <a:bodyPr/>
        <a:lstStyle/>
        <a:p>
          <a:r>
            <a:rPr lang="en-US" sz="1600" dirty="0">
              <a:latin typeface="Times New Roman" panose="02020603050405020304" pitchFamily="18" charset="0"/>
              <a:cs typeface="Times New Roman" panose="02020603050405020304" pitchFamily="18" charset="0"/>
            </a:rPr>
            <a:t>Understand thermal and safety management in EV </a:t>
          </a:r>
          <a:r>
            <a:rPr lang="en-US" sz="1800" dirty="0">
              <a:latin typeface="Times New Roman" panose="02020603050405020304" pitchFamily="18" charset="0"/>
              <a:cs typeface="Times New Roman" panose="02020603050405020304" pitchFamily="18" charset="0"/>
            </a:rPr>
            <a:t>batteries</a:t>
          </a:r>
          <a:r>
            <a:rPr lang="en-US" sz="1300" dirty="0"/>
            <a:t>.</a:t>
          </a:r>
        </a:p>
      </dgm:t>
    </dgm:pt>
    <dgm:pt modelId="{AE81916D-9E20-473C-8BE3-652D5461748F}" type="parTrans" cxnId="{1EE16D3B-26AA-4693-93CE-1B2E74A940D9}">
      <dgm:prSet/>
      <dgm:spPr/>
      <dgm:t>
        <a:bodyPr/>
        <a:lstStyle/>
        <a:p>
          <a:endParaRPr lang="en-US"/>
        </a:p>
      </dgm:t>
    </dgm:pt>
    <dgm:pt modelId="{3C38CB45-177B-43A7-802B-A556237355E8}" type="sibTrans" cxnId="{1EE16D3B-26AA-4693-93CE-1B2E74A940D9}">
      <dgm:prSet/>
      <dgm:spPr/>
      <dgm:t>
        <a:bodyPr/>
        <a:lstStyle/>
        <a:p>
          <a:endParaRPr lang="en-US"/>
        </a:p>
      </dgm:t>
    </dgm:pt>
    <dgm:pt modelId="{606ECC1C-DAC8-474C-B46E-9D535AFC1C10}">
      <dgm:prSet/>
      <dgm:spPr/>
      <dgm:t>
        <a:bodyPr/>
        <a:lstStyle/>
        <a:p>
          <a:r>
            <a:rPr lang="en-US"/>
            <a:t>Gain</a:t>
          </a:r>
        </a:p>
      </dgm:t>
    </dgm:pt>
    <dgm:pt modelId="{B79B9DFE-DE42-4C74-91CA-55375921AD3F}" type="parTrans" cxnId="{40770011-4565-4091-85F6-C57A1FA5E388}">
      <dgm:prSet/>
      <dgm:spPr/>
      <dgm:t>
        <a:bodyPr/>
        <a:lstStyle/>
        <a:p>
          <a:endParaRPr lang="en-US"/>
        </a:p>
      </dgm:t>
    </dgm:pt>
    <dgm:pt modelId="{AB53E22F-22EE-408B-A7B6-DBFBB50DB19B}" type="sibTrans" cxnId="{40770011-4565-4091-85F6-C57A1FA5E388}">
      <dgm:prSet/>
      <dgm:spPr/>
      <dgm:t>
        <a:bodyPr/>
        <a:lstStyle/>
        <a:p>
          <a:endParaRPr lang="en-US"/>
        </a:p>
      </dgm:t>
    </dgm:pt>
    <dgm:pt modelId="{4D973390-AE5B-47B6-BDAB-10AFB97FB16F}">
      <dgm:prSet custT="1"/>
      <dgm:spPr/>
      <dgm:t>
        <a:bodyPr/>
        <a:lstStyle/>
        <a:p>
          <a:r>
            <a:rPr lang="en-US" sz="1600" dirty="0">
              <a:latin typeface="Times New Roman" panose="02020603050405020304" pitchFamily="18" charset="0"/>
              <a:cs typeface="Times New Roman" panose="02020603050405020304" pitchFamily="18" charset="0"/>
            </a:rPr>
            <a:t>Gain practical exposure to assembly and </a:t>
          </a:r>
          <a:r>
            <a:rPr lang="en-US" sz="1800" dirty="0">
              <a:latin typeface="Times New Roman" panose="02020603050405020304" pitchFamily="18" charset="0"/>
              <a:cs typeface="Times New Roman" panose="02020603050405020304" pitchFamily="18" charset="0"/>
            </a:rPr>
            <a:t>integration</a:t>
          </a:r>
          <a:r>
            <a:rPr lang="en-US" sz="1300" dirty="0"/>
            <a:t>.</a:t>
          </a:r>
        </a:p>
      </dgm:t>
    </dgm:pt>
    <dgm:pt modelId="{CAC3803F-B7C0-49AD-8565-3532BF80117B}" type="parTrans" cxnId="{CF61C28C-6412-4A25-AD10-A7EA5D1538D9}">
      <dgm:prSet/>
      <dgm:spPr/>
      <dgm:t>
        <a:bodyPr/>
        <a:lstStyle/>
        <a:p>
          <a:endParaRPr lang="en-US"/>
        </a:p>
      </dgm:t>
    </dgm:pt>
    <dgm:pt modelId="{B30C8B13-33BC-4C85-9040-F7491F1771C1}" type="sibTrans" cxnId="{CF61C28C-6412-4A25-AD10-A7EA5D1538D9}">
      <dgm:prSet/>
      <dgm:spPr/>
      <dgm:t>
        <a:bodyPr/>
        <a:lstStyle/>
        <a:p>
          <a:endParaRPr lang="en-US"/>
        </a:p>
      </dgm:t>
    </dgm:pt>
    <dgm:pt modelId="{86699E79-6341-49EC-8702-3D0319E87E8C}">
      <dgm:prSet/>
      <dgm:spPr/>
      <dgm:t>
        <a:bodyPr/>
        <a:lstStyle/>
        <a:p>
          <a:r>
            <a:rPr lang="en-US"/>
            <a:t>Perform</a:t>
          </a:r>
        </a:p>
      </dgm:t>
    </dgm:pt>
    <dgm:pt modelId="{AC33484D-A575-4A20-93DC-7263BA127B16}" type="parTrans" cxnId="{F13B4751-DC07-4A43-883A-9CBF764B5BAC}">
      <dgm:prSet/>
      <dgm:spPr/>
      <dgm:t>
        <a:bodyPr/>
        <a:lstStyle/>
        <a:p>
          <a:endParaRPr lang="en-US"/>
        </a:p>
      </dgm:t>
    </dgm:pt>
    <dgm:pt modelId="{1B55BCF6-CC37-421C-B15A-49753128F5FD}" type="sibTrans" cxnId="{F13B4751-DC07-4A43-883A-9CBF764B5BAC}">
      <dgm:prSet/>
      <dgm:spPr/>
      <dgm:t>
        <a:bodyPr/>
        <a:lstStyle/>
        <a:p>
          <a:endParaRPr lang="en-US"/>
        </a:p>
      </dgm:t>
    </dgm:pt>
    <dgm:pt modelId="{6598BD61-583A-48B2-991A-2E4F30C86338}">
      <dgm:prSet custT="1"/>
      <dgm:spPr/>
      <dgm:t>
        <a:bodyPr/>
        <a:lstStyle/>
        <a:p>
          <a:r>
            <a:rPr lang="en-US" sz="1600" dirty="0">
              <a:latin typeface="Times New Roman" panose="02020603050405020304" pitchFamily="18" charset="0"/>
              <a:cs typeface="Times New Roman" panose="02020603050405020304" pitchFamily="18" charset="0"/>
            </a:rPr>
            <a:t>Perform testing and data analysis to evaluate performance.</a:t>
          </a:r>
        </a:p>
      </dgm:t>
    </dgm:pt>
    <dgm:pt modelId="{32C4BEC5-B716-45FA-AF2D-54251E368595}" type="parTrans" cxnId="{84347961-3A1E-42E6-A81A-F7D94CE81AEA}">
      <dgm:prSet/>
      <dgm:spPr/>
      <dgm:t>
        <a:bodyPr/>
        <a:lstStyle/>
        <a:p>
          <a:endParaRPr lang="en-US"/>
        </a:p>
      </dgm:t>
    </dgm:pt>
    <dgm:pt modelId="{716B2993-85A8-4AC8-806C-3425099142AD}" type="sibTrans" cxnId="{84347961-3A1E-42E6-A81A-F7D94CE81AEA}">
      <dgm:prSet/>
      <dgm:spPr/>
      <dgm:t>
        <a:bodyPr/>
        <a:lstStyle/>
        <a:p>
          <a:endParaRPr lang="en-US"/>
        </a:p>
      </dgm:t>
    </dgm:pt>
    <dgm:pt modelId="{6A4D3391-C5C7-46BE-BA5B-2928AC76E741}">
      <dgm:prSet/>
      <dgm:spPr/>
      <dgm:t>
        <a:bodyPr/>
        <a:lstStyle/>
        <a:p>
          <a:r>
            <a:rPr lang="en-US"/>
            <a:t>Develop</a:t>
          </a:r>
        </a:p>
      </dgm:t>
    </dgm:pt>
    <dgm:pt modelId="{13FF37FC-0EDF-4145-8580-6EDB7C4AFC00}" type="parTrans" cxnId="{C53D87B5-2820-42E6-9F21-A55ABD19C7B8}">
      <dgm:prSet/>
      <dgm:spPr/>
      <dgm:t>
        <a:bodyPr/>
        <a:lstStyle/>
        <a:p>
          <a:endParaRPr lang="en-US"/>
        </a:p>
      </dgm:t>
    </dgm:pt>
    <dgm:pt modelId="{8F69B8D2-AD8C-4B94-9DA8-5B2587631F37}" type="sibTrans" cxnId="{C53D87B5-2820-42E6-9F21-A55ABD19C7B8}">
      <dgm:prSet/>
      <dgm:spPr/>
      <dgm:t>
        <a:bodyPr/>
        <a:lstStyle/>
        <a:p>
          <a:endParaRPr lang="en-US"/>
        </a:p>
      </dgm:t>
    </dgm:pt>
    <dgm:pt modelId="{C99148CA-BF22-42BF-B844-A5BCF28731EB}">
      <dgm:prSet custT="1"/>
      <dgm:spPr/>
      <dgm:t>
        <a:bodyPr/>
        <a:lstStyle/>
        <a:p>
          <a:r>
            <a:rPr lang="en-US" sz="1400" dirty="0">
              <a:latin typeface="Times New Roman" panose="02020603050405020304" pitchFamily="18" charset="0"/>
              <a:cs typeface="Times New Roman" panose="02020603050405020304" pitchFamily="18" charset="0"/>
            </a:rPr>
            <a:t>Develop skills for future EV and energy storage applications</a:t>
          </a:r>
          <a:r>
            <a:rPr lang="en-US" sz="1400" dirty="0"/>
            <a:t>.</a:t>
          </a:r>
        </a:p>
      </dgm:t>
    </dgm:pt>
    <dgm:pt modelId="{DF90C898-B453-46BD-B54B-4BE9B2E9F809}" type="parTrans" cxnId="{2111734C-72A7-488D-921F-C3E4AC3E5F82}">
      <dgm:prSet/>
      <dgm:spPr/>
      <dgm:t>
        <a:bodyPr/>
        <a:lstStyle/>
        <a:p>
          <a:endParaRPr lang="en-US"/>
        </a:p>
      </dgm:t>
    </dgm:pt>
    <dgm:pt modelId="{6F0227FD-38A7-4491-8785-C0B58054B297}" type="sibTrans" cxnId="{2111734C-72A7-488D-921F-C3E4AC3E5F82}">
      <dgm:prSet/>
      <dgm:spPr/>
      <dgm:t>
        <a:bodyPr/>
        <a:lstStyle/>
        <a:p>
          <a:endParaRPr lang="en-US"/>
        </a:p>
      </dgm:t>
    </dgm:pt>
    <dgm:pt modelId="{AD3484B8-9479-4419-8357-4361D975A4D4}" type="pres">
      <dgm:prSet presAssocID="{18556649-92C6-49D0-8776-ABC7A0BD540E}" presName="Name0" presStyleCnt="0">
        <dgm:presLayoutVars>
          <dgm:dir/>
          <dgm:animLvl val="lvl"/>
          <dgm:resizeHandles val="exact"/>
        </dgm:presLayoutVars>
      </dgm:prSet>
      <dgm:spPr/>
    </dgm:pt>
    <dgm:pt modelId="{0F6A4091-F10B-4E07-9408-E209B4DD5D23}" type="pres">
      <dgm:prSet presAssocID="{8462BA00-A302-4CDA-9FA4-E788410459D7}" presName="linNode" presStyleCnt="0"/>
      <dgm:spPr/>
    </dgm:pt>
    <dgm:pt modelId="{A313D8C8-41A4-4925-B2E8-474DBF814697}" type="pres">
      <dgm:prSet presAssocID="{8462BA00-A302-4CDA-9FA4-E788410459D7}" presName="parentText" presStyleLbl="node1" presStyleIdx="0" presStyleCnt="6" custScaleX="119677" custLinFactNeighborX="452" custLinFactNeighborY="2928">
        <dgm:presLayoutVars>
          <dgm:chMax val="1"/>
          <dgm:bulletEnabled val="1"/>
        </dgm:presLayoutVars>
      </dgm:prSet>
      <dgm:spPr/>
    </dgm:pt>
    <dgm:pt modelId="{50D77C9A-069E-41E6-96A3-DFF27053B972}" type="pres">
      <dgm:prSet presAssocID="{8462BA00-A302-4CDA-9FA4-E788410459D7}" presName="descendantText" presStyleLbl="alignAccFollowNode1" presStyleIdx="0" presStyleCnt="6" custScaleX="121699" custScaleY="107729" custLinFactNeighborX="583" custLinFactNeighborY="2906">
        <dgm:presLayoutVars>
          <dgm:bulletEnabled val="1"/>
        </dgm:presLayoutVars>
      </dgm:prSet>
      <dgm:spPr/>
    </dgm:pt>
    <dgm:pt modelId="{BBC779BE-AB6A-4656-AAEF-BCA73B9390E7}" type="pres">
      <dgm:prSet presAssocID="{D911F9D9-EA8D-47E8-BDBC-8919B8802EC8}" presName="sp" presStyleCnt="0"/>
      <dgm:spPr/>
    </dgm:pt>
    <dgm:pt modelId="{744565BE-FA8E-43C2-BA62-A7B2441F2145}" type="pres">
      <dgm:prSet presAssocID="{78A7F196-26BD-49EA-9F2E-8853C239D235}" presName="linNode" presStyleCnt="0"/>
      <dgm:spPr/>
    </dgm:pt>
    <dgm:pt modelId="{77D186D6-66A8-48C5-8C07-3EB026D05348}" type="pres">
      <dgm:prSet presAssocID="{78A7F196-26BD-49EA-9F2E-8853C239D235}" presName="parentText" presStyleLbl="node1" presStyleIdx="1" presStyleCnt="6">
        <dgm:presLayoutVars>
          <dgm:chMax val="1"/>
          <dgm:bulletEnabled val="1"/>
        </dgm:presLayoutVars>
      </dgm:prSet>
      <dgm:spPr/>
    </dgm:pt>
    <dgm:pt modelId="{707A0A34-ADFF-464B-A309-E836CF0470D2}" type="pres">
      <dgm:prSet presAssocID="{78A7F196-26BD-49EA-9F2E-8853C239D235}" presName="descendantText" presStyleLbl="alignAccFollowNode1" presStyleIdx="1" presStyleCnt="6">
        <dgm:presLayoutVars>
          <dgm:bulletEnabled val="1"/>
        </dgm:presLayoutVars>
      </dgm:prSet>
      <dgm:spPr/>
    </dgm:pt>
    <dgm:pt modelId="{BE34DD54-8AEA-4DA1-AA6D-FF79EF268BE0}" type="pres">
      <dgm:prSet presAssocID="{0A913816-8699-464E-8840-D22CDF4F4A22}" presName="sp" presStyleCnt="0"/>
      <dgm:spPr/>
    </dgm:pt>
    <dgm:pt modelId="{A30A6CE6-A5F6-4725-95D1-881C007B9A72}" type="pres">
      <dgm:prSet presAssocID="{62ED9D71-8FDF-49DC-9133-276B173CB7D8}" presName="linNode" presStyleCnt="0"/>
      <dgm:spPr/>
    </dgm:pt>
    <dgm:pt modelId="{346FFA46-373C-45ED-9090-B76C405B8D7E}" type="pres">
      <dgm:prSet presAssocID="{62ED9D71-8FDF-49DC-9133-276B173CB7D8}" presName="parentText" presStyleLbl="node1" presStyleIdx="2" presStyleCnt="6">
        <dgm:presLayoutVars>
          <dgm:chMax val="1"/>
          <dgm:bulletEnabled val="1"/>
        </dgm:presLayoutVars>
      </dgm:prSet>
      <dgm:spPr/>
    </dgm:pt>
    <dgm:pt modelId="{A0CF547F-F74B-427C-A4B7-549B3C590107}" type="pres">
      <dgm:prSet presAssocID="{62ED9D71-8FDF-49DC-9133-276B173CB7D8}" presName="descendantText" presStyleLbl="alignAccFollowNode1" presStyleIdx="2" presStyleCnt="6">
        <dgm:presLayoutVars>
          <dgm:bulletEnabled val="1"/>
        </dgm:presLayoutVars>
      </dgm:prSet>
      <dgm:spPr/>
    </dgm:pt>
    <dgm:pt modelId="{98E76C92-909A-4777-90A0-5C2A463C3530}" type="pres">
      <dgm:prSet presAssocID="{A5DC6DD0-0A76-4436-9092-0A8684A668C3}" presName="sp" presStyleCnt="0"/>
      <dgm:spPr/>
    </dgm:pt>
    <dgm:pt modelId="{73EF20C3-C250-4DD3-BD21-3E4BF2C549CE}" type="pres">
      <dgm:prSet presAssocID="{606ECC1C-DAC8-474C-B46E-9D535AFC1C10}" presName="linNode" presStyleCnt="0"/>
      <dgm:spPr/>
    </dgm:pt>
    <dgm:pt modelId="{001A1B8C-64A3-438F-95FD-9A67A21F4A30}" type="pres">
      <dgm:prSet presAssocID="{606ECC1C-DAC8-474C-B46E-9D535AFC1C10}" presName="parentText" presStyleLbl="node1" presStyleIdx="3" presStyleCnt="6">
        <dgm:presLayoutVars>
          <dgm:chMax val="1"/>
          <dgm:bulletEnabled val="1"/>
        </dgm:presLayoutVars>
      </dgm:prSet>
      <dgm:spPr/>
    </dgm:pt>
    <dgm:pt modelId="{08BC42DC-602A-491D-A958-8D964C559673}" type="pres">
      <dgm:prSet presAssocID="{606ECC1C-DAC8-474C-B46E-9D535AFC1C10}" presName="descendantText" presStyleLbl="alignAccFollowNode1" presStyleIdx="3" presStyleCnt="6">
        <dgm:presLayoutVars>
          <dgm:bulletEnabled val="1"/>
        </dgm:presLayoutVars>
      </dgm:prSet>
      <dgm:spPr/>
    </dgm:pt>
    <dgm:pt modelId="{342C7512-1E56-495E-B6D2-2709A144B7AE}" type="pres">
      <dgm:prSet presAssocID="{AB53E22F-22EE-408B-A7B6-DBFBB50DB19B}" presName="sp" presStyleCnt="0"/>
      <dgm:spPr/>
    </dgm:pt>
    <dgm:pt modelId="{1A60EC08-6226-490B-B01B-D64E77FEA696}" type="pres">
      <dgm:prSet presAssocID="{86699E79-6341-49EC-8702-3D0319E87E8C}" presName="linNode" presStyleCnt="0"/>
      <dgm:spPr/>
    </dgm:pt>
    <dgm:pt modelId="{A1EF8994-FA84-48D7-9B3C-66321466E4B0}" type="pres">
      <dgm:prSet presAssocID="{86699E79-6341-49EC-8702-3D0319E87E8C}" presName="parentText" presStyleLbl="node1" presStyleIdx="4" presStyleCnt="6">
        <dgm:presLayoutVars>
          <dgm:chMax val="1"/>
          <dgm:bulletEnabled val="1"/>
        </dgm:presLayoutVars>
      </dgm:prSet>
      <dgm:spPr/>
    </dgm:pt>
    <dgm:pt modelId="{F186D67B-CD80-41AB-9310-8CB77ED022E2}" type="pres">
      <dgm:prSet presAssocID="{86699E79-6341-49EC-8702-3D0319E87E8C}" presName="descendantText" presStyleLbl="alignAccFollowNode1" presStyleIdx="4" presStyleCnt="6">
        <dgm:presLayoutVars>
          <dgm:bulletEnabled val="1"/>
        </dgm:presLayoutVars>
      </dgm:prSet>
      <dgm:spPr/>
    </dgm:pt>
    <dgm:pt modelId="{8BADBF9F-4BFA-4083-BDE9-4636ED6F6BAD}" type="pres">
      <dgm:prSet presAssocID="{1B55BCF6-CC37-421C-B15A-49753128F5FD}" presName="sp" presStyleCnt="0"/>
      <dgm:spPr/>
    </dgm:pt>
    <dgm:pt modelId="{12A07371-2376-4358-ACEE-EC7D54AA19C5}" type="pres">
      <dgm:prSet presAssocID="{6A4D3391-C5C7-46BE-BA5B-2928AC76E741}" presName="linNode" presStyleCnt="0"/>
      <dgm:spPr/>
    </dgm:pt>
    <dgm:pt modelId="{158DC5F1-D4E0-4501-9C51-B5A66620A4E5}" type="pres">
      <dgm:prSet presAssocID="{6A4D3391-C5C7-46BE-BA5B-2928AC76E741}" presName="parentText" presStyleLbl="node1" presStyleIdx="5" presStyleCnt="6">
        <dgm:presLayoutVars>
          <dgm:chMax val="1"/>
          <dgm:bulletEnabled val="1"/>
        </dgm:presLayoutVars>
      </dgm:prSet>
      <dgm:spPr/>
    </dgm:pt>
    <dgm:pt modelId="{10A690D5-3F85-464B-8E7F-228E470A9B54}" type="pres">
      <dgm:prSet presAssocID="{6A4D3391-C5C7-46BE-BA5B-2928AC76E741}" presName="descendantText" presStyleLbl="alignAccFollowNode1" presStyleIdx="5" presStyleCnt="6">
        <dgm:presLayoutVars>
          <dgm:bulletEnabled val="1"/>
        </dgm:presLayoutVars>
      </dgm:prSet>
      <dgm:spPr/>
    </dgm:pt>
  </dgm:ptLst>
  <dgm:cxnLst>
    <dgm:cxn modelId="{EDC73D07-52F0-448F-A589-D0FB58C0E549}" type="presOf" srcId="{8462BA00-A302-4CDA-9FA4-E788410459D7}" destId="{A313D8C8-41A4-4925-B2E8-474DBF814697}" srcOrd="0" destOrd="0" presId="urn:microsoft.com/office/officeart/2005/8/layout/vList5"/>
    <dgm:cxn modelId="{C778F50C-11A4-4BE0-B752-6E7447B0BDA6}" type="presOf" srcId="{D299C7BE-EACA-48EA-9DA9-5DDBF9A73688}" destId="{A0CF547F-F74B-427C-A4B7-549B3C590107}" srcOrd="0" destOrd="0" presId="urn:microsoft.com/office/officeart/2005/8/layout/vList5"/>
    <dgm:cxn modelId="{4CCBA80D-3968-4DFE-85E5-659257DC99D3}" srcId="{18556649-92C6-49D0-8776-ABC7A0BD540E}" destId="{78A7F196-26BD-49EA-9F2E-8853C239D235}" srcOrd="1" destOrd="0" parTransId="{C001FE82-AB64-4525-908A-42F08B867759}" sibTransId="{0A913816-8699-464E-8840-D22CDF4F4A22}"/>
    <dgm:cxn modelId="{40770011-4565-4091-85F6-C57A1FA5E388}" srcId="{18556649-92C6-49D0-8776-ABC7A0BD540E}" destId="{606ECC1C-DAC8-474C-B46E-9D535AFC1C10}" srcOrd="3" destOrd="0" parTransId="{B79B9DFE-DE42-4C74-91CA-55375921AD3F}" sibTransId="{AB53E22F-22EE-408B-A7B6-DBFBB50DB19B}"/>
    <dgm:cxn modelId="{8C3D071C-1302-444A-92BA-8C7E945B7508}" srcId="{18556649-92C6-49D0-8776-ABC7A0BD540E}" destId="{8462BA00-A302-4CDA-9FA4-E788410459D7}" srcOrd="0" destOrd="0" parTransId="{9B2988B4-3E51-4FC2-BE6F-2262DC601B89}" sibTransId="{D911F9D9-EA8D-47E8-BDBC-8919B8802EC8}"/>
    <dgm:cxn modelId="{5B4AE61F-D564-453E-8C55-413F255871FA}" type="presOf" srcId="{0D170DAA-5B60-45A1-AADE-DC69C97DD7AD}" destId="{707A0A34-ADFF-464B-A309-E836CF0470D2}" srcOrd="0" destOrd="0" presId="urn:microsoft.com/office/officeart/2005/8/layout/vList5"/>
    <dgm:cxn modelId="{57EC263B-0CE5-496F-8604-506E6AF62581}" type="presOf" srcId="{86699E79-6341-49EC-8702-3D0319E87E8C}" destId="{A1EF8994-FA84-48D7-9B3C-66321466E4B0}" srcOrd="0" destOrd="0" presId="urn:microsoft.com/office/officeart/2005/8/layout/vList5"/>
    <dgm:cxn modelId="{1EE16D3B-26AA-4693-93CE-1B2E74A940D9}" srcId="{62ED9D71-8FDF-49DC-9133-276B173CB7D8}" destId="{D299C7BE-EACA-48EA-9DA9-5DDBF9A73688}" srcOrd="0" destOrd="0" parTransId="{AE81916D-9E20-473C-8BE3-652D5461748F}" sibTransId="{3C38CB45-177B-43A7-802B-A556237355E8}"/>
    <dgm:cxn modelId="{84347961-3A1E-42E6-A81A-F7D94CE81AEA}" srcId="{86699E79-6341-49EC-8702-3D0319E87E8C}" destId="{6598BD61-583A-48B2-991A-2E4F30C86338}" srcOrd="0" destOrd="0" parTransId="{32C4BEC5-B716-45FA-AF2D-54251E368595}" sibTransId="{716B2993-85A8-4AC8-806C-3425099142AD}"/>
    <dgm:cxn modelId="{2DBCDD64-6D2D-4857-BB82-3E43B7B691EF}" type="presOf" srcId="{6A4D3391-C5C7-46BE-BA5B-2928AC76E741}" destId="{158DC5F1-D4E0-4501-9C51-B5A66620A4E5}" srcOrd="0" destOrd="0" presId="urn:microsoft.com/office/officeart/2005/8/layout/vList5"/>
    <dgm:cxn modelId="{11B47646-E92D-473F-B19F-D1FF6BECCDEA}" type="presOf" srcId="{62ED9D71-8FDF-49DC-9133-276B173CB7D8}" destId="{346FFA46-373C-45ED-9090-B76C405B8D7E}" srcOrd="0" destOrd="0" presId="urn:microsoft.com/office/officeart/2005/8/layout/vList5"/>
    <dgm:cxn modelId="{2111734C-72A7-488D-921F-C3E4AC3E5F82}" srcId="{6A4D3391-C5C7-46BE-BA5B-2928AC76E741}" destId="{C99148CA-BF22-42BF-B844-A5BCF28731EB}" srcOrd="0" destOrd="0" parTransId="{DF90C898-B453-46BD-B54B-4BE9B2E9F809}" sibTransId="{6F0227FD-38A7-4491-8785-C0B58054B297}"/>
    <dgm:cxn modelId="{F13B4751-DC07-4A43-883A-9CBF764B5BAC}" srcId="{18556649-92C6-49D0-8776-ABC7A0BD540E}" destId="{86699E79-6341-49EC-8702-3D0319E87E8C}" srcOrd="4" destOrd="0" parTransId="{AC33484D-A575-4A20-93DC-7263BA127B16}" sibTransId="{1B55BCF6-CC37-421C-B15A-49753128F5FD}"/>
    <dgm:cxn modelId="{F0C9DE52-6B47-4747-8F41-01FFE098DD10}" type="presOf" srcId="{606ECC1C-DAC8-474C-B46E-9D535AFC1C10}" destId="{001A1B8C-64A3-438F-95FD-9A67A21F4A30}" srcOrd="0" destOrd="0" presId="urn:microsoft.com/office/officeart/2005/8/layout/vList5"/>
    <dgm:cxn modelId="{60231F7C-FAF3-4049-91FA-3FD9DB27C2AF}" type="presOf" srcId="{4D973390-AE5B-47B6-BDAB-10AFB97FB16F}" destId="{08BC42DC-602A-491D-A958-8D964C559673}" srcOrd="0" destOrd="0" presId="urn:microsoft.com/office/officeart/2005/8/layout/vList5"/>
    <dgm:cxn modelId="{CF61C28C-6412-4A25-AD10-A7EA5D1538D9}" srcId="{606ECC1C-DAC8-474C-B46E-9D535AFC1C10}" destId="{4D973390-AE5B-47B6-BDAB-10AFB97FB16F}" srcOrd="0" destOrd="0" parTransId="{CAC3803F-B7C0-49AD-8565-3532BF80117B}" sibTransId="{B30C8B13-33BC-4C85-9040-F7491F1771C1}"/>
    <dgm:cxn modelId="{F5285C98-BCB5-4C31-B4B0-BAAE5EA8D705}" type="presOf" srcId="{18556649-92C6-49D0-8776-ABC7A0BD540E}" destId="{AD3484B8-9479-4419-8357-4361D975A4D4}" srcOrd="0" destOrd="0" presId="urn:microsoft.com/office/officeart/2005/8/layout/vList5"/>
    <dgm:cxn modelId="{C53D87B5-2820-42E6-9F21-A55ABD19C7B8}" srcId="{18556649-92C6-49D0-8776-ABC7A0BD540E}" destId="{6A4D3391-C5C7-46BE-BA5B-2928AC76E741}" srcOrd="5" destOrd="0" parTransId="{13FF37FC-0EDF-4145-8580-6EDB7C4AFC00}" sibTransId="{8F69B8D2-AD8C-4B94-9DA8-5B2587631F37}"/>
    <dgm:cxn modelId="{5D3CE2B7-7B2C-47DA-A374-7D6FA013ED23}" srcId="{18556649-92C6-49D0-8776-ABC7A0BD540E}" destId="{62ED9D71-8FDF-49DC-9133-276B173CB7D8}" srcOrd="2" destOrd="0" parTransId="{1451EE72-9F21-4E37-A561-70603BEB4BFC}" sibTransId="{A5DC6DD0-0A76-4436-9092-0A8684A668C3}"/>
    <dgm:cxn modelId="{EB87E3BB-37F3-4EC8-B194-982BCA95B438}" type="presOf" srcId="{C99148CA-BF22-42BF-B844-A5BCF28731EB}" destId="{10A690D5-3F85-464B-8E7F-228E470A9B54}" srcOrd="0" destOrd="0" presId="urn:microsoft.com/office/officeart/2005/8/layout/vList5"/>
    <dgm:cxn modelId="{6F60B3DD-ED8B-454C-978B-4AE22CDF1987}" srcId="{78A7F196-26BD-49EA-9F2E-8853C239D235}" destId="{0D170DAA-5B60-45A1-AADE-DC69C97DD7AD}" srcOrd="0" destOrd="0" parTransId="{1C34E9FF-12B7-4369-AA88-D8CDEA92DB46}" sibTransId="{C9AC660C-BCCD-46D1-B4B0-79E5E0C2B9E6}"/>
    <dgm:cxn modelId="{F0CB00E3-E58D-46CA-9DE3-6228E89B5AA5}" type="presOf" srcId="{78A7F196-26BD-49EA-9F2E-8853C239D235}" destId="{77D186D6-66A8-48C5-8C07-3EB026D05348}" srcOrd="0" destOrd="0" presId="urn:microsoft.com/office/officeart/2005/8/layout/vList5"/>
    <dgm:cxn modelId="{F6C309EF-17FB-4252-946B-0396B9F47A61}" type="presOf" srcId="{8B3EA8A1-370E-479C-884D-C21A7FDED0B6}" destId="{50D77C9A-069E-41E6-96A3-DFF27053B972}" srcOrd="0" destOrd="0" presId="urn:microsoft.com/office/officeart/2005/8/layout/vList5"/>
    <dgm:cxn modelId="{08DF7AF2-3BCF-42A8-BECF-7814DB9F7EF5}" type="presOf" srcId="{6598BD61-583A-48B2-991A-2E4F30C86338}" destId="{F186D67B-CD80-41AB-9310-8CB77ED022E2}" srcOrd="0" destOrd="0" presId="urn:microsoft.com/office/officeart/2005/8/layout/vList5"/>
    <dgm:cxn modelId="{108095F6-BEDD-4F92-841E-746BC1CC6DA0}" srcId="{8462BA00-A302-4CDA-9FA4-E788410459D7}" destId="{8B3EA8A1-370E-479C-884D-C21A7FDED0B6}" srcOrd="0" destOrd="0" parTransId="{CDC076EE-E112-4CCD-BB11-9AF0E9A1F283}" sibTransId="{166C06B4-1D31-43B4-86F6-16F9161C79DC}"/>
    <dgm:cxn modelId="{EE1618C0-E161-4940-8400-DC9ED5B74170}" type="presParOf" srcId="{AD3484B8-9479-4419-8357-4361D975A4D4}" destId="{0F6A4091-F10B-4E07-9408-E209B4DD5D23}" srcOrd="0" destOrd="0" presId="urn:microsoft.com/office/officeart/2005/8/layout/vList5"/>
    <dgm:cxn modelId="{F7C48F21-2C10-4B33-A4E6-C15EC3F22D36}" type="presParOf" srcId="{0F6A4091-F10B-4E07-9408-E209B4DD5D23}" destId="{A313D8C8-41A4-4925-B2E8-474DBF814697}" srcOrd="0" destOrd="0" presId="urn:microsoft.com/office/officeart/2005/8/layout/vList5"/>
    <dgm:cxn modelId="{B8294A6B-A60E-4429-AFCC-44E5EB51033E}" type="presParOf" srcId="{0F6A4091-F10B-4E07-9408-E209B4DD5D23}" destId="{50D77C9A-069E-41E6-96A3-DFF27053B972}" srcOrd="1" destOrd="0" presId="urn:microsoft.com/office/officeart/2005/8/layout/vList5"/>
    <dgm:cxn modelId="{BE39CD76-4ED7-4E9C-BAE6-C153ABBADDDF}" type="presParOf" srcId="{AD3484B8-9479-4419-8357-4361D975A4D4}" destId="{BBC779BE-AB6A-4656-AAEF-BCA73B9390E7}" srcOrd="1" destOrd="0" presId="urn:microsoft.com/office/officeart/2005/8/layout/vList5"/>
    <dgm:cxn modelId="{1FEE1518-D96F-477E-9005-A00E4AE5B55F}" type="presParOf" srcId="{AD3484B8-9479-4419-8357-4361D975A4D4}" destId="{744565BE-FA8E-43C2-BA62-A7B2441F2145}" srcOrd="2" destOrd="0" presId="urn:microsoft.com/office/officeart/2005/8/layout/vList5"/>
    <dgm:cxn modelId="{F2DF75C4-FD4E-442D-8ED0-038DF8F7EC50}" type="presParOf" srcId="{744565BE-FA8E-43C2-BA62-A7B2441F2145}" destId="{77D186D6-66A8-48C5-8C07-3EB026D05348}" srcOrd="0" destOrd="0" presId="urn:microsoft.com/office/officeart/2005/8/layout/vList5"/>
    <dgm:cxn modelId="{EEC87026-111E-43C3-89EF-EB205B3321B0}" type="presParOf" srcId="{744565BE-FA8E-43C2-BA62-A7B2441F2145}" destId="{707A0A34-ADFF-464B-A309-E836CF0470D2}" srcOrd="1" destOrd="0" presId="urn:microsoft.com/office/officeart/2005/8/layout/vList5"/>
    <dgm:cxn modelId="{47CA1F87-09CD-43AA-86BA-4A9101990873}" type="presParOf" srcId="{AD3484B8-9479-4419-8357-4361D975A4D4}" destId="{BE34DD54-8AEA-4DA1-AA6D-FF79EF268BE0}" srcOrd="3" destOrd="0" presId="urn:microsoft.com/office/officeart/2005/8/layout/vList5"/>
    <dgm:cxn modelId="{858D57CC-BEBB-44AC-995A-93E917AA7A91}" type="presParOf" srcId="{AD3484B8-9479-4419-8357-4361D975A4D4}" destId="{A30A6CE6-A5F6-4725-95D1-881C007B9A72}" srcOrd="4" destOrd="0" presId="urn:microsoft.com/office/officeart/2005/8/layout/vList5"/>
    <dgm:cxn modelId="{BD565732-EAAE-4F7B-80F0-EC76FF95BC82}" type="presParOf" srcId="{A30A6CE6-A5F6-4725-95D1-881C007B9A72}" destId="{346FFA46-373C-45ED-9090-B76C405B8D7E}" srcOrd="0" destOrd="0" presId="urn:microsoft.com/office/officeart/2005/8/layout/vList5"/>
    <dgm:cxn modelId="{43597F2E-1A20-46F4-9BBF-909203394E9A}" type="presParOf" srcId="{A30A6CE6-A5F6-4725-95D1-881C007B9A72}" destId="{A0CF547F-F74B-427C-A4B7-549B3C590107}" srcOrd="1" destOrd="0" presId="urn:microsoft.com/office/officeart/2005/8/layout/vList5"/>
    <dgm:cxn modelId="{DD9C4F62-53B3-4006-95A5-123C13A39D7C}" type="presParOf" srcId="{AD3484B8-9479-4419-8357-4361D975A4D4}" destId="{98E76C92-909A-4777-90A0-5C2A463C3530}" srcOrd="5" destOrd="0" presId="urn:microsoft.com/office/officeart/2005/8/layout/vList5"/>
    <dgm:cxn modelId="{8C6F6AFC-12EA-4D72-B912-ACE377F6D200}" type="presParOf" srcId="{AD3484B8-9479-4419-8357-4361D975A4D4}" destId="{73EF20C3-C250-4DD3-BD21-3E4BF2C549CE}" srcOrd="6" destOrd="0" presId="urn:microsoft.com/office/officeart/2005/8/layout/vList5"/>
    <dgm:cxn modelId="{E0055A67-AFDA-418D-AA07-ECFC34620E2B}" type="presParOf" srcId="{73EF20C3-C250-4DD3-BD21-3E4BF2C549CE}" destId="{001A1B8C-64A3-438F-95FD-9A67A21F4A30}" srcOrd="0" destOrd="0" presId="urn:microsoft.com/office/officeart/2005/8/layout/vList5"/>
    <dgm:cxn modelId="{4DDF5248-FAAB-4A18-AA62-EB8F72C5B725}" type="presParOf" srcId="{73EF20C3-C250-4DD3-BD21-3E4BF2C549CE}" destId="{08BC42DC-602A-491D-A958-8D964C559673}" srcOrd="1" destOrd="0" presId="urn:microsoft.com/office/officeart/2005/8/layout/vList5"/>
    <dgm:cxn modelId="{CF79E886-5234-4023-BF25-B9F29E9C1912}" type="presParOf" srcId="{AD3484B8-9479-4419-8357-4361D975A4D4}" destId="{342C7512-1E56-495E-B6D2-2709A144B7AE}" srcOrd="7" destOrd="0" presId="urn:microsoft.com/office/officeart/2005/8/layout/vList5"/>
    <dgm:cxn modelId="{8B14CAA0-8FA4-4238-86C7-426AA5E16FCB}" type="presParOf" srcId="{AD3484B8-9479-4419-8357-4361D975A4D4}" destId="{1A60EC08-6226-490B-B01B-D64E77FEA696}" srcOrd="8" destOrd="0" presId="urn:microsoft.com/office/officeart/2005/8/layout/vList5"/>
    <dgm:cxn modelId="{8BC12B18-4B60-42C5-A10A-42196F05EE1B}" type="presParOf" srcId="{1A60EC08-6226-490B-B01B-D64E77FEA696}" destId="{A1EF8994-FA84-48D7-9B3C-66321466E4B0}" srcOrd="0" destOrd="0" presId="urn:microsoft.com/office/officeart/2005/8/layout/vList5"/>
    <dgm:cxn modelId="{15D36628-FA92-41C2-BA02-5789BAC37390}" type="presParOf" srcId="{1A60EC08-6226-490B-B01B-D64E77FEA696}" destId="{F186D67B-CD80-41AB-9310-8CB77ED022E2}" srcOrd="1" destOrd="0" presId="urn:microsoft.com/office/officeart/2005/8/layout/vList5"/>
    <dgm:cxn modelId="{EB540222-9DE1-47B1-BF37-9C2DA49ED075}" type="presParOf" srcId="{AD3484B8-9479-4419-8357-4361D975A4D4}" destId="{8BADBF9F-4BFA-4083-BDE9-4636ED6F6BAD}" srcOrd="9" destOrd="0" presId="urn:microsoft.com/office/officeart/2005/8/layout/vList5"/>
    <dgm:cxn modelId="{D29D0E8C-2B4A-4A56-A7D2-F6A6DBCEA348}" type="presParOf" srcId="{AD3484B8-9479-4419-8357-4361D975A4D4}" destId="{12A07371-2376-4358-ACEE-EC7D54AA19C5}" srcOrd="10" destOrd="0" presId="urn:microsoft.com/office/officeart/2005/8/layout/vList5"/>
    <dgm:cxn modelId="{BAC5D805-2CC9-4D2C-A010-25E943C32E92}" type="presParOf" srcId="{12A07371-2376-4358-ACEE-EC7D54AA19C5}" destId="{158DC5F1-D4E0-4501-9C51-B5A66620A4E5}" srcOrd="0" destOrd="0" presId="urn:microsoft.com/office/officeart/2005/8/layout/vList5"/>
    <dgm:cxn modelId="{F5A19C43-A800-4904-B2F8-D134204A9028}" type="presParOf" srcId="{12A07371-2376-4358-ACEE-EC7D54AA19C5}" destId="{10A690D5-3F85-464B-8E7F-228E470A9B5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5AF12F-4EEA-4062-86A8-53FA87B3463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4B38410-9708-4867-95D7-A9E9E3437AA3}">
      <dgm:prSet custT="1"/>
      <dgm:spPr/>
      <dgm:t>
        <a:bodyPr/>
        <a:lstStyle/>
        <a:p>
          <a:pPr algn="l">
            <a:lnSpc>
              <a:spcPct val="100000"/>
            </a:lnSpc>
          </a:pPr>
          <a:r>
            <a:rPr lang="en-US" sz="2400" b="0" dirty="0"/>
            <a:t>Integration of advanced cooling systems for higher safety.</a:t>
          </a:r>
        </a:p>
      </dgm:t>
    </dgm:pt>
    <dgm:pt modelId="{8E178051-23E4-4EDF-8750-1BD4435605A8}" type="parTrans" cxnId="{16978F98-624C-48CC-8CB4-1A60FA6AF522}">
      <dgm:prSet/>
      <dgm:spPr/>
      <dgm:t>
        <a:bodyPr/>
        <a:lstStyle/>
        <a:p>
          <a:endParaRPr lang="en-US"/>
        </a:p>
      </dgm:t>
    </dgm:pt>
    <dgm:pt modelId="{931E32F3-E45A-4213-ABC2-4815D24AC3C9}" type="sibTrans" cxnId="{16978F98-624C-48CC-8CB4-1A60FA6AF522}">
      <dgm:prSet/>
      <dgm:spPr/>
      <dgm:t>
        <a:bodyPr/>
        <a:lstStyle/>
        <a:p>
          <a:endParaRPr lang="en-US"/>
        </a:p>
      </dgm:t>
    </dgm:pt>
    <dgm:pt modelId="{C95933A2-E4EF-48E1-8230-F292E3EA4BE0}">
      <dgm:prSet/>
      <dgm:spPr/>
      <dgm:t>
        <a:bodyPr/>
        <a:lstStyle/>
        <a:p>
          <a:pPr>
            <a:lnSpc>
              <a:spcPct val="100000"/>
            </a:lnSpc>
          </a:pPr>
          <a:r>
            <a:rPr lang="en-US" b="0" dirty="0"/>
            <a:t>Use of solid-state batteries for improved energy density.</a:t>
          </a:r>
        </a:p>
      </dgm:t>
    </dgm:pt>
    <dgm:pt modelId="{0210B06F-41C2-492E-B7B5-07476E9AA480}" type="parTrans" cxnId="{D660CB02-E69C-4ED9-A3BA-198F90E3F4D5}">
      <dgm:prSet/>
      <dgm:spPr/>
      <dgm:t>
        <a:bodyPr/>
        <a:lstStyle/>
        <a:p>
          <a:endParaRPr lang="en-US"/>
        </a:p>
      </dgm:t>
    </dgm:pt>
    <dgm:pt modelId="{C321F812-0048-4B61-B8AE-D65A3DAEEE0A}" type="sibTrans" cxnId="{D660CB02-E69C-4ED9-A3BA-198F90E3F4D5}">
      <dgm:prSet/>
      <dgm:spPr/>
      <dgm:t>
        <a:bodyPr/>
        <a:lstStyle/>
        <a:p>
          <a:endParaRPr lang="en-US"/>
        </a:p>
      </dgm:t>
    </dgm:pt>
    <dgm:pt modelId="{A29A0583-B0F6-4494-A6EF-600C1D42C950}">
      <dgm:prSet/>
      <dgm:spPr/>
      <dgm:t>
        <a:bodyPr/>
        <a:lstStyle/>
        <a:p>
          <a:pPr algn="just">
            <a:lnSpc>
              <a:spcPct val="100000"/>
            </a:lnSpc>
          </a:pPr>
          <a:r>
            <a:rPr lang="en-US" b="0" dirty="0"/>
            <a:t>Development of smart BMS with IoT monitoring. Scaling design for commercial EV applications.</a:t>
          </a:r>
          <a:br>
            <a:rPr lang="en-US" b="0" dirty="0"/>
          </a:br>
          <a:endParaRPr lang="en-US" b="0" dirty="0"/>
        </a:p>
      </dgm:t>
    </dgm:pt>
    <dgm:pt modelId="{6C24C039-2FF0-4121-82D6-49CF3442AC72}" type="parTrans" cxnId="{9EB190C6-A43B-4983-BC1E-F201DED94289}">
      <dgm:prSet/>
      <dgm:spPr/>
      <dgm:t>
        <a:bodyPr/>
        <a:lstStyle/>
        <a:p>
          <a:endParaRPr lang="en-US"/>
        </a:p>
      </dgm:t>
    </dgm:pt>
    <dgm:pt modelId="{0F442087-DF64-434A-9AAC-9FD3124B22B6}" type="sibTrans" cxnId="{9EB190C6-A43B-4983-BC1E-F201DED94289}">
      <dgm:prSet/>
      <dgm:spPr/>
      <dgm:t>
        <a:bodyPr/>
        <a:lstStyle/>
        <a:p>
          <a:endParaRPr lang="en-US"/>
        </a:p>
      </dgm:t>
    </dgm:pt>
    <dgm:pt modelId="{67975258-A6DB-40E8-B67B-93DD46441AEF}" type="pres">
      <dgm:prSet presAssocID="{BE5AF12F-4EEA-4062-86A8-53FA87B34630}" presName="root" presStyleCnt="0">
        <dgm:presLayoutVars>
          <dgm:dir/>
          <dgm:resizeHandles val="exact"/>
        </dgm:presLayoutVars>
      </dgm:prSet>
      <dgm:spPr/>
    </dgm:pt>
    <dgm:pt modelId="{2D43B274-1574-44FF-8ED4-B6E4A0A141FE}" type="pres">
      <dgm:prSet presAssocID="{84B38410-9708-4867-95D7-A9E9E3437AA3}" presName="compNode" presStyleCnt="0"/>
      <dgm:spPr/>
    </dgm:pt>
    <dgm:pt modelId="{55CA00E5-64E1-4C59-A948-B273E0A2D85E}" type="pres">
      <dgm:prSet presAssocID="{84B38410-9708-4867-95D7-A9E9E3437AA3}" presName="bgRect" presStyleLbl="bgShp" presStyleIdx="0" presStyleCnt="3"/>
      <dgm:spPr/>
    </dgm:pt>
    <dgm:pt modelId="{6A5EDD9F-0BCF-4B10-A3FD-F62401C41932}" type="pres">
      <dgm:prSet presAssocID="{84B38410-9708-4867-95D7-A9E9E3437AA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w Temperature"/>
        </a:ext>
      </dgm:extLst>
    </dgm:pt>
    <dgm:pt modelId="{F4FE1703-0D16-430C-AF1D-7571DAB88272}" type="pres">
      <dgm:prSet presAssocID="{84B38410-9708-4867-95D7-A9E9E3437AA3}" presName="spaceRect" presStyleCnt="0"/>
      <dgm:spPr/>
    </dgm:pt>
    <dgm:pt modelId="{D83ADBD5-CD9D-450F-9864-53E7135A962C}" type="pres">
      <dgm:prSet presAssocID="{84B38410-9708-4867-95D7-A9E9E3437AA3}" presName="parTx" presStyleLbl="revTx" presStyleIdx="0" presStyleCnt="3">
        <dgm:presLayoutVars>
          <dgm:chMax val="0"/>
          <dgm:chPref val="0"/>
        </dgm:presLayoutVars>
      </dgm:prSet>
      <dgm:spPr/>
    </dgm:pt>
    <dgm:pt modelId="{63CCC467-1144-4A62-A386-115C01F3F4FE}" type="pres">
      <dgm:prSet presAssocID="{931E32F3-E45A-4213-ABC2-4815D24AC3C9}" presName="sibTrans" presStyleCnt="0"/>
      <dgm:spPr/>
    </dgm:pt>
    <dgm:pt modelId="{628BEA96-E977-4414-B70C-1F42E39B859A}" type="pres">
      <dgm:prSet presAssocID="{C95933A2-E4EF-48E1-8230-F292E3EA4BE0}" presName="compNode" presStyleCnt="0"/>
      <dgm:spPr/>
    </dgm:pt>
    <dgm:pt modelId="{F708D04B-D7B1-455B-8BC8-850367B3D450}" type="pres">
      <dgm:prSet presAssocID="{C95933A2-E4EF-48E1-8230-F292E3EA4BE0}" presName="bgRect" presStyleLbl="bgShp" presStyleIdx="1" presStyleCnt="3"/>
      <dgm:spPr/>
    </dgm:pt>
    <dgm:pt modelId="{A7A8F4F5-EC64-4A19-BCC6-687ACBFCB9A3}" type="pres">
      <dgm:prSet presAssocID="{C95933A2-E4EF-48E1-8230-F292E3EA4BE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ttery Charging"/>
        </a:ext>
      </dgm:extLst>
    </dgm:pt>
    <dgm:pt modelId="{3F3CA328-ED8F-4F50-A7AD-B27CA7D32835}" type="pres">
      <dgm:prSet presAssocID="{C95933A2-E4EF-48E1-8230-F292E3EA4BE0}" presName="spaceRect" presStyleCnt="0"/>
      <dgm:spPr/>
    </dgm:pt>
    <dgm:pt modelId="{8AFA7A88-4006-4E06-84CC-3856A2C92B2D}" type="pres">
      <dgm:prSet presAssocID="{C95933A2-E4EF-48E1-8230-F292E3EA4BE0}" presName="parTx" presStyleLbl="revTx" presStyleIdx="1" presStyleCnt="3">
        <dgm:presLayoutVars>
          <dgm:chMax val="0"/>
          <dgm:chPref val="0"/>
        </dgm:presLayoutVars>
      </dgm:prSet>
      <dgm:spPr/>
    </dgm:pt>
    <dgm:pt modelId="{7718B582-5B09-4622-9BCF-8D22C7AE21B0}" type="pres">
      <dgm:prSet presAssocID="{C321F812-0048-4B61-B8AE-D65A3DAEEE0A}" presName="sibTrans" presStyleCnt="0"/>
      <dgm:spPr/>
    </dgm:pt>
    <dgm:pt modelId="{43755AFD-662E-47DC-9BC4-99E0500F5FEC}" type="pres">
      <dgm:prSet presAssocID="{A29A0583-B0F6-4494-A6EF-600C1D42C950}" presName="compNode" presStyleCnt="0"/>
      <dgm:spPr/>
    </dgm:pt>
    <dgm:pt modelId="{89F55293-AA5C-4083-A40D-229247DD3CF0}" type="pres">
      <dgm:prSet presAssocID="{A29A0583-B0F6-4494-A6EF-600C1D42C950}" presName="bgRect" presStyleLbl="bgShp" presStyleIdx="2" presStyleCnt="3"/>
      <dgm:spPr/>
    </dgm:pt>
    <dgm:pt modelId="{14667E8F-0413-427D-AB8B-EF8E9411C554}" type="pres">
      <dgm:prSet presAssocID="{A29A0583-B0F6-4494-A6EF-600C1D42C9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F0618B23-94F1-419D-9FDE-9465C44FBCFC}" type="pres">
      <dgm:prSet presAssocID="{A29A0583-B0F6-4494-A6EF-600C1D42C950}" presName="spaceRect" presStyleCnt="0"/>
      <dgm:spPr/>
    </dgm:pt>
    <dgm:pt modelId="{F730B23E-C354-4529-A386-B921F5E18D5E}" type="pres">
      <dgm:prSet presAssocID="{A29A0583-B0F6-4494-A6EF-600C1D42C950}" presName="parTx" presStyleLbl="revTx" presStyleIdx="2" presStyleCnt="3">
        <dgm:presLayoutVars>
          <dgm:chMax val="0"/>
          <dgm:chPref val="0"/>
        </dgm:presLayoutVars>
      </dgm:prSet>
      <dgm:spPr/>
    </dgm:pt>
  </dgm:ptLst>
  <dgm:cxnLst>
    <dgm:cxn modelId="{D4176B01-0EA2-4549-A0FB-D2F6A08FC317}" type="presOf" srcId="{84B38410-9708-4867-95D7-A9E9E3437AA3}" destId="{D83ADBD5-CD9D-450F-9864-53E7135A962C}" srcOrd="0" destOrd="0" presId="urn:microsoft.com/office/officeart/2018/2/layout/IconVerticalSolidList"/>
    <dgm:cxn modelId="{D660CB02-E69C-4ED9-A3BA-198F90E3F4D5}" srcId="{BE5AF12F-4EEA-4062-86A8-53FA87B34630}" destId="{C95933A2-E4EF-48E1-8230-F292E3EA4BE0}" srcOrd="1" destOrd="0" parTransId="{0210B06F-41C2-492E-B7B5-07476E9AA480}" sibTransId="{C321F812-0048-4B61-B8AE-D65A3DAEEE0A}"/>
    <dgm:cxn modelId="{9B87792D-9A6D-448A-95EB-87BE04F11BC7}" type="presOf" srcId="{A29A0583-B0F6-4494-A6EF-600C1D42C950}" destId="{F730B23E-C354-4529-A386-B921F5E18D5E}" srcOrd="0" destOrd="0" presId="urn:microsoft.com/office/officeart/2018/2/layout/IconVerticalSolidList"/>
    <dgm:cxn modelId="{42643162-F149-4375-9320-4BC0D7BB76AA}" type="presOf" srcId="{BE5AF12F-4EEA-4062-86A8-53FA87B34630}" destId="{67975258-A6DB-40E8-B67B-93DD46441AEF}" srcOrd="0" destOrd="0" presId="urn:microsoft.com/office/officeart/2018/2/layout/IconVerticalSolidList"/>
    <dgm:cxn modelId="{16978F98-624C-48CC-8CB4-1A60FA6AF522}" srcId="{BE5AF12F-4EEA-4062-86A8-53FA87B34630}" destId="{84B38410-9708-4867-95D7-A9E9E3437AA3}" srcOrd="0" destOrd="0" parTransId="{8E178051-23E4-4EDF-8750-1BD4435605A8}" sibTransId="{931E32F3-E45A-4213-ABC2-4815D24AC3C9}"/>
    <dgm:cxn modelId="{7C1AE2C5-2CA0-4C54-A38B-F2ACF5ABBE2B}" type="presOf" srcId="{C95933A2-E4EF-48E1-8230-F292E3EA4BE0}" destId="{8AFA7A88-4006-4E06-84CC-3856A2C92B2D}" srcOrd="0" destOrd="0" presId="urn:microsoft.com/office/officeart/2018/2/layout/IconVerticalSolidList"/>
    <dgm:cxn modelId="{9EB190C6-A43B-4983-BC1E-F201DED94289}" srcId="{BE5AF12F-4EEA-4062-86A8-53FA87B34630}" destId="{A29A0583-B0F6-4494-A6EF-600C1D42C950}" srcOrd="2" destOrd="0" parTransId="{6C24C039-2FF0-4121-82D6-49CF3442AC72}" sibTransId="{0F442087-DF64-434A-9AAC-9FD3124B22B6}"/>
    <dgm:cxn modelId="{25B98336-0C11-44A7-B769-4F6A189BFFAB}" type="presParOf" srcId="{67975258-A6DB-40E8-B67B-93DD46441AEF}" destId="{2D43B274-1574-44FF-8ED4-B6E4A0A141FE}" srcOrd="0" destOrd="0" presId="urn:microsoft.com/office/officeart/2018/2/layout/IconVerticalSolidList"/>
    <dgm:cxn modelId="{795CB514-C890-4170-BA48-2AF46B5BD689}" type="presParOf" srcId="{2D43B274-1574-44FF-8ED4-B6E4A0A141FE}" destId="{55CA00E5-64E1-4C59-A948-B273E0A2D85E}" srcOrd="0" destOrd="0" presId="urn:microsoft.com/office/officeart/2018/2/layout/IconVerticalSolidList"/>
    <dgm:cxn modelId="{1BAF33F7-0C9A-447B-9F94-F35E542CD9C3}" type="presParOf" srcId="{2D43B274-1574-44FF-8ED4-B6E4A0A141FE}" destId="{6A5EDD9F-0BCF-4B10-A3FD-F62401C41932}" srcOrd="1" destOrd="0" presId="urn:microsoft.com/office/officeart/2018/2/layout/IconVerticalSolidList"/>
    <dgm:cxn modelId="{66140444-C7DE-412B-8D20-D4A10522D033}" type="presParOf" srcId="{2D43B274-1574-44FF-8ED4-B6E4A0A141FE}" destId="{F4FE1703-0D16-430C-AF1D-7571DAB88272}" srcOrd="2" destOrd="0" presId="urn:microsoft.com/office/officeart/2018/2/layout/IconVerticalSolidList"/>
    <dgm:cxn modelId="{5BE76F30-2DB7-44E9-BE23-EF6E94A92F3F}" type="presParOf" srcId="{2D43B274-1574-44FF-8ED4-B6E4A0A141FE}" destId="{D83ADBD5-CD9D-450F-9864-53E7135A962C}" srcOrd="3" destOrd="0" presId="urn:microsoft.com/office/officeart/2018/2/layout/IconVerticalSolidList"/>
    <dgm:cxn modelId="{B8928596-3682-4ABF-BE51-238025183B2E}" type="presParOf" srcId="{67975258-A6DB-40E8-B67B-93DD46441AEF}" destId="{63CCC467-1144-4A62-A386-115C01F3F4FE}" srcOrd="1" destOrd="0" presId="urn:microsoft.com/office/officeart/2018/2/layout/IconVerticalSolidList"/>
    <dgm:cxn modelId="{B0CF581F-7460-4052-A343-CAE5A44B04D9}" type="presParOf" srcId="{67975258-A6DB-40E8-B67B-93DD46441AEF}" destId="{628BEA96-E977-4414-B70C-1F42E39B859A}" srcOrd="2" destOrd="0" presId="urn:microsoft.com/office/officeart/2018/2/layout/IconVerticalSolidList"/>
    <dgm:cxn modelId="{1FB6794B-7E01-4A57-9006-517255AE179A}" type="presParOf" srcId="{628BEA96-E977-4414-B70C-1F42E39B859A}" destId="{F708D04B-D7B1-455B-8BC8-850367B3D450}" srcOrd="0" destOrd="0" presId="urn:microsoft.com/office/officeart/2018/2/layout/IconVerticalSolidList"/>
    <dgm:cxn modelId="{24336642-82D4-4838-A786-8707B264ADB2}" type="presParOf" srcId="{628BEA96-E977-4414-B70C-1F42E39B859A}" destId="{A7A8F4F5-EC64-4A19-BCC6-687ACBFCB9A3}" srcOrd="1" destOrd="0" presId="urn:microsoft.com/office/officeart/2018/2/layout/IconVerticalSolidList"/>
    <dgm:cxn modelId="{A3321210-D75F-4B29-9FE6-3EAEF943D7A7}" type="presParOf" srcId="{628BEA96-E977-4414-B70C-1F42E39B859A}" destId="{3F3CA328-ED8F-4F50-A7AD-B27CA7D32835}" srcOrd="2" destOrd="0" presId="urn:microsoft.com/office/officeart/2018/2/layout/IconVerticalSolidList"/>
    <dgm:cxn modelId="{263FBFBB-9CD3-4696-A34C-FE56220AD02C}" type="presParOf" srcId="{628BEA96-E977-4414-B70C-1F42E39B859A}" destId="{8AFA7A88-4006-4E06-84CC-3856A2C92B2D}" srcOrd="3" destOrd="0" presId="urn:microsoft.com/office/officeart/2018/2/layout/IconVerticalSolidList"/>
    <dgm:cxn modelId="{05C948CA-A115-43EF-A8AB-07C75A967FBD}" type="presParOf" srcId="{67975258-A6DB-40E8-B67B-93DD46441AEF}" destId="{7718B582-5B09-4622-9BCF-8D22C7AE21B0}" srcOrd="3" destOrd="0" presId="urn:microsoft.com/office/officeart/2018/2/layout/IconVerticalSolidList"/>
    <dgm:cxn modelId="{E4867AE8-74C3-4E91-ABE5-526E8DCCC4FC}" type="presParOf" srcId="{67975258-A6DB-40E8-B67B-93DD46441AEF}" destId="{43755AFD-662E-47DC-9BC4-99E0500F5FEC}" srcOrd="4" destOrd="0" presId="urn:microsoft.com/office/officeart/2018/2/layout/IconVerticalSolidList"/>
    <dgm:cxn modelId="{D267A0ED-B50E-4F86-A6C8-D9943BE6E90F}" type="presParOf" srcId="{43755AFD-662E-47DC-9BC4-99E0500F5FEC}" destId="{89F55293-AA5C-4083-A40D-229247DD3CF0}" srcOrd="0" destOrd="0" presId="urn:microsoft.com/office/officeart/2018/2/layout/IconVerticalSolidList"/>
    <dgm:cxn modelId="{89F07A91-CB11-4BC8-96C6-1CA8AF9C2381}" type="presParOf" srcId="{43755AFD-662E-47DC-9BC4-99E0500F5FEC}" destId="{14667E8F-0413-427D-AB8B-EF8E9411C554}" srcOrd="1" destOrd="0" presId="urn:microsoft.com/office/officeart/2018/2/layout/IconVerticalSolidList"/>
    <dgm:cxn modelId="{B5136C37-8001-4DC1-BB2C-EDB3C1221D0F}" type="presParOf" srcId="{43755AFD-662E-47DC-9BC4-99E0500F5FEC}" destId="{F0618B23-94F1-419D-9FDE-9465C44FBCFC}" srcOrd="2" destOrd="0" presId="urn:microsoft.com/office/officeart/2018/2/layout/IconVerticalSolidList"/>
    <dgm:cxn modelId="{2B74F08D-F143-4E91-8715-CE165B88DF28}" type="presParOf" srcId="{43755AFD-662E-47DC-9BC4-99E0500F5FEC}" destId="{F730B23E-C354-4529-A386-B921F5E18D5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D77C9A-069E-41E6-96A3-DFF27053B972}">
      <dsp:nvSpPr>
        <dsp:cNvPr id="0" name=""/>
        <dsp:cNvSpPr/>
      </dsp:nvSpPr>
      <dsp:spPr>
        <a:xfrm rot="5400000">
          <a:off x="2487975" y="-965297"/>
          <a:ext cx="577802" cy="2634504"/>
        </a:xfrm>
        <a:prstGeom prst="round2SameRect">
          <a:avLst/>
        </a:prstGeom>
        <a:solidFill>
          <a:schemeClr val="accent6">
            <a:alpha val="90000"/>
            <a:tint val="40000"/>
            <a:hueOff val="0"/>
            <a:satOff val="0"/>
            <a:lumOff val="0"/>
            <a:alphaOff val="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b="0" kern="1200" dirty="0">
              <a:latin typeface="Times New Roman" panose="02020603050405020304" pitchFamily="18" charset="0"/>
              <a:cs typeface="Times New Roman" panose="02020603050405020304" pitchFamily="18" charset="0"/>
            </a:rPr>
            <a:t>Design a reliable 72V battery pack architecture</a:t>
          </a:r>
          <a:r>
            <a:rPr lang="en-US" sz="1600" kern="1200" dirty="0">
              <a:latin typeface="Times New Roman" panose="02020603050405020304" pitchFamily="18" charset="0"/>
              <a:cs typeface="Times New Roman" panose="02020603050405020304" pitchFamily="18" charset="0"/>
            </a:rPr>
            <a:t>.</a:t>
          </a:r>
        </a:p>
      </dsp:txBody>
      <dsp:txXfrm rot="-5400000">
        <a:off x="1459624" y="91260"/>
        <a:ext cx="2606298" cy="521390"/>
      </dsp:txXfrm>
    </dsp:sp>
    <dsp:sp modelId="{A313D8C8-41A4-4925-B2E8-474DBF814697}">
      <dsp:nvSpPr>
        <dsp:cNvPr id="0" name=""/>
        <dsp:cNvSpPr/>
      </dsp:nvSpPr>
      <dsp:spPr>
        <a:xfrm>
          <a:off x="9784" y="20781"/>
          <a:ext cx="1457287" cy="670434"/>
        </a:xfrm>
        <a:prstGeom prst="round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dirty="0"/>
            <a:t>Design</a:t>
          </a:r>
        </a:p>
      </dsp:txBody>
      <dsp:txXfrm>
        <a:off x="42512" y="53509"/>
        <a:ext cx="1391831" cy="604978"/>
      </dsp:txXfrm>
    </dsp:sp>
    <dsp:sp modelId="{707A0A34-ADFF-464B-A309-E836CF0470D2}">
      <dsp:nvSpPr>
        <dsp:cNvPr id="0" name=""/>
        <dsp:cNvSpPr/>
      </dsp:nvSpPr>
      <dsp:spPr>
        <a:xfrm rot="5400000">
          <a:off x="2515833" y="-269795"/>
          <a:ext cx="536347" cy="2620242"/>
        </a:xfrm>
        <a:prstGeom prst="round2SameRect">
          <a:avLst/>
        </a:prstGeom>
        <a:solidFill>
          <a:schemeClr val="accent6">
            <a:alpha val="90000"/>
            <a:tint val="40000"/>
            <a:hueOff val="0"/>
            <a:satOff val="0"/>
            <a:lumOff val="0"/>
            <a:alphaOff val="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Times New Roman" panose="02020603050405020304" pitchFamily="18" charset="0"/>
              <a:cs typeface="Times New Roman" panose="02020603050405020304" pitchFamily="18" charset="0"/>
            </a:rPr>
            <a:t>Learn cell selection and configuration methods</a:t>
          </a:r>
          <a:r>
            <a:rPr lang="en-US" sz="1300" kern="1200" dirty="0"/>
            <a:t>.</a:t>
          </a:r>
        </a:p>
      </dsp:txBody>
      <dsp:txXfrm rot="-5400000">
        <a:off x="1473886" y="798334"/>
        <a:ext cx="2594060" cy="483983"/>
      </dsp:txXfrm>
    </dsp:sp>
    <dsp:sp modelId="{77D186D6-66A8-48C5-8C07-3EB026D05348}">
      <dsp:nvSpPr>
        <dsp:cNvPr id="0" name=""/>
        <dsp:cNvSpPr/>
      </dsp:nvSpPr>
      <dsp:spPr>
        <a:xfrm>
          <a:off x="0" y="705107"/>
          <a:ext cx="1473886" cy="670434"/>
        </a:xfrm>
        <a:prstGeom prst="round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Learn</a:t>
          </a:r>
        </a:p>
      </dsp:txBody>
      <dsp:txXfrm>
        <a:off x="32728" y="737835"/>
        <a:ext cx="1408430" cy="604978"/>
      </dsp:txXfrm>
    </dsp:sp>
    <dsp:sp modelId="{A0CF547F-F74B-427C-A4B7-549B3C590107}">
      <dsp:nvSpPr>
        <dsp:cNvPr id="0" name=""/>
        <dsp:cNvSpPr/>
      </dsp:nvSpPr>
      <dsp:spPr>
        <a:xfrm rot="5400000">
          <a:off x="2515833" y="434160"/>
          <a:ext cx="536347" cy="2620242"/>
        </a:xfrm>
        <a:prstGeom prst="round2SameRect">
          <a:avLst/>
        </a:prstGeom>
        <a:solidFill>
          <a:schemeClr val="accent6">
            <a:alpha val="90000"/>
            <a:tint val="40000"/>
            <a:hueOff val="0"/>
            <a:satOff val="0"/>
            <a:lumOff val="0"/>
            <a:alphaOff val="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Times New Roman" panose="02020603050405020304" pitchFamily="18" charset="0"/>
              <a:cs typeface="Times New Roman" panose="02020603050405020304" pitchFamily="18" charset="0"/>
            </a:rPr>
            <a:t>Understand thermal and safety management in EV </a:t>
          </a:r>
          <a:r>
            <a:rPr lang="en-US" sz="1800" kern="1200" dirty="0">
              <a:latin typeface="Times New Roman" panose="02020603050405020304" pitchFamily="18" charset="0"/>
              <a:cs typeface="Times New Roman" panose="02020603050405020304" pitchFamily="18" charset="0"/>
            </a:rPr>
            <a:t>batteries</a:t>
          </a:r>
          <a:r>
            <a:rPr lang="en-US" sz="1300" kern="1200" dirty="0"/>
            <a:t>.</a:t>
          </a:r>
        </a:p>
      </dsp:txBody>
      <dsp:txXfrm rot="-5400000">
        <a:off x="1473886" y="1502289"/>
        <a:ext cx="2594060" cy="483983"/>
      </dsp:txXfrm>
    </dsp:sp>
    <dsp:sp modelId="{346FFA46-373C-45ED-9090-B76C405B8D7E}">
      <dsp:nvSpPr>
        <dsp:cNvPr id="0" name=""/>
        <dsp:cNvSpPr/>
      </dsp:nvSpPr>
      <dsp:spPr>
        <a:xfrm>
          <a:off x="0" y="1409064"/>
          <a:ext cx="1473886" cy="670434"/>
        </a:xfrm>
        <a:prstGeom prst="round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Understand</a:t>
          </a:r>
        </a:p>
      </dsp:txBody>
      <dsp:txXfrm>
        <a:off x="32728" y="1441792"/>
        <a:ext cx="1408430" cy="604978"/>
      </dsp:txXfrm>
    </dsp:sp>
    <dsp:sp modelId="{08BC42DC-602A-491D-A958-8D964C559673}">
      <dsp:nvSpPr>
        <dsp:cNvPr id="0" name=""/>
        <dsp:cNvSpPr/>
      </dsp:nvSpPr>
      <dsp:spPr>
        <a:xfrm rot="5400000">
          <a:off x="2515833" y="1138116"/>
          <a:ext cx="536347" cy="2620242"/>
        </a:xfrm>
        <a:prstGeom prst="round2SameRect">
          <a:avLst/>
        </a:prstGeom>
        <a:solidFill>
          <a:schemeClr val="accent6">
            <a:alpha val="90000"/>
            <a:tint val="40000"/>
            <a:hueOff val="0"/>
            <a:satOff val="0"/>
            <a:lumOff val="0"/>
            <a:alphaOff val="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Times New Roman" panose="02020603050405020304" pitchFamily="18" charset="0"/>
              <a:cs typeface="Times New Roman" panose="02020603050405020304" pitchFamily="18" charset="0"/>
            </a:rPr>
            <a:t>Gain practical exposure to assembly and </a:t>
          </a:r>
          <a:r>
            <a:rPr lang="en-US" sz="1800" kern="1200" dirty="0">
              <a:latin typeface="Times New Roman" panose="02020603050405020304" pitchFamily="18" charset="0"/>
              <a:cs typeface="Times New Roman" panose="02020603050405020304" pitchFamily="18" charset="0"/>
            </a:rPr>
            <a:t>integration</a:t>
          </a:r>
          <a:r>
            <a:rPr lang="en-US" sz="1300" kern="1200" dirty="0"/>
            <a:t>.</a:t>
          </a:r>
        </a:p>
      </dsp:txBody>
      <dsp:txXfrm rot="-5400000">
        <a:off x="1473886" y="2206245"/>
        <a:ext cx="2594060" cy="483983"/>
      </dsp:txXfrm>
    </dsp:sp>
    <dsp:sp modelId="{001A1B8C-64A3-438F-95FD-9A67A21F4A30}">
      <dsp:nvSpPr>
        <dsp:cNvPr id="0" name=""/>
        <dsp:cNvSpPr/>
      </dsp:nvSpPr>
      <dsp:spPr>
        <a:xfrm>
          <a:off x="0" y="2113020"/>
          <a:ext cx="1473886" cy="670434"/>
        </a:xfrm>
        <a:prstGeom prst="round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Gain</a:t>
          </a:r>
        </a:p>
      </dsp:txBody>
      <dsp:txXfrm>
        <a:off x="32728" y="2145748"/>
        <a:ext cx="1408430" cy="604978"/>
      </dsp:txXfrm>
    </dsp:sp>
    <dsp:sp modelId="{F186D67B-CD80-41AB-9310-8CB77ED022E2}">
      <dsp:nvSpPr>
        <dsp:cNvPr id="0" name=""/>
        <dsp:cNvSpPr/>
      </dsp:nvSpPr>
      <dsp:spPr>
        <a:xfrm rot="5400000">
          <a:off x="2515833" y="1842073"/>
          <a:ext cx="536347" cy="2620242"/>
        </a:xfrm>
        <a:prstGeom prst="round2SameRect">
          <a:avLst/>
        </a:prstGeom>
        <a:solidFill>
          <a:schemeClr val="accent6">
            <a:alpha val="90000"/>
            <a:tint val="40000"/>
            <a:hueOff val="0"/>
            <a:satOff val="0"/>
            <a:lumOff val="0"/>
            <a:alphaOff val="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latin typeface="Times New Roman" panose="02020603050405020304" pitchFamily="18" charset="0"/>
              <a:cs typeface="Times New Roman" panose="02020603050405020304" pitchFamily="18" charset="0"/>
            </a:rPr>
            <a:t>Perform testing and data analysis to evaluate performance.</a:t>
          </a:r>
        </a:p>
      </dsp:txBody>
      <dsp:txXfrm rot="-5400000">
        <a:off x="1473886" y="2910202"/>
        <a:ext cx="2594060" cy="483983"/>
      </dsp:txXfrm>
    </dsp:sp>
    <dsp:sp modelId="{A1EF8994-FA84-48D7-9B3C-66321466E4B0}">
      <dsp:nvSpPr>
        <dsp:cNvPr id="0" name=""/>
        <dsp:cNvSpPr/>
      </dsp:nvSpPr>
      <dsp:spPr>
        <a:xfrm>
          <a:off x="0" y="2816977"/>
          <a:ext cx="1473886" cy="670434"/>
        </a:xfrm>
        <a:prstGeom prst="round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Perform</a:t>
          </a:r>
        </a:p>
      </dsp:txBody>
      <dsp:txXfrm>
        <a:off x="32728" y="2849705"/>
        <a:ext cx="1408430" cy="604978"/>
      </dsp:txXfrm>
    </dsp:sp>
    <dsp:sp modelId="{10A690D5-3F85-464B-8E7F-228E470A9B54}">
      <dsp:nvSpPr>
        <dsp:cNvPr id="0" name=""/>
        <dsp:cNvSpPr/>
      </dsp:nvSpPr>
      <dsp:spPr>
        <a:xfrm rot="5400000">
          <a:off x="2515833" y="2546029"/>
          <a:ext cx="536347" cy="2620242"/>
        </a:xfrm>
        <a:prstGeom prst="round2SameRect">
          <a:avLst/>
        </a:prstGeom>
        <a:solidFill>
          <a:schemeClr val="accent6">
            <a:alpha val="90000"/>
            <a:tint val="40000"/>
            <a:hueOff val="0"/>
            <a:satOff val="0"/>
            <a:lumOff val="0"/>
            <a:alphaOff val="0"/>
          </a:schemeClr>
        </a:solidFill>
        <a:ln w="25400" cap="flat" cmpd="sng" algn="ctr">
          <a:solidFill>
            <a:schemeClr val="accent6">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Develop skills for future EV and energy storage applications</a:t>
          </a:r>
          <a:r>
            <a:rPr lang="en-US" sz="1400" kern="1200" dirty="0"/>
            <a:t>.</a:t>
          </a:r>
        </a:p>
      </dsp:txBody>
      <dsp:txXfrm rot="-5400000">
        <a:off x="1473886" y="3614158"/>
        <a:ext cx="2594060" cy="483983"/>
      </dsp:txXfrm>
    </dsp:sp>
    <dsp:sp modelId="{158DC5F1-D4E0-4501-9C51-B5A66620A4E5}">
      <dsp:nvSpPr>
        <dsp:cNvPr id="0" name=""/>
        <dsp:cNvSpPr/>
      </dsp:nvSpPr>
      <dsp:spPr>
        <a:xfrm>
          <a:off x="0" y="3520933"/>
          <a:ext cx="1473886" cy="670434"/>
        </a:xfrm>
        <a:prstGeom prst="roundRect">
          <a:avLst/>
        </a:prstGeom>
        <a:solidFill>
          <a:schemeClr val="accent6">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Develop</a:t>
          </a:r>
        </a:p>
      </dsp:txBody>
      <dsp:txXfrm>
        <a:off x="32728" y="3553661"/>
        <a:ext cx="1408430" cy="6049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CA00E5-64E1-4C59-A948-B273E0A2D85E}">
      <dsp:nvSpPr>
        <dsp:cNvPr id="0" name=""/>
        <dsp:cNvSpPr/>
      </dsp:nvSpPr>
      <dsp:spPr>
        <a:xfrm>
          <a:off x="0" y="688"/>
          <a:ext cx="8487053" cy="1610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5EDD9F-0BCF-4B10-A3FD-F62401C41932}">
      <dsp:nvSpPr>
        <dsp:cNvPr id="0" name=""/>
        <dsp:cNvSpPr/>
      </dsp:nvSpPr>
      <dsp:spPr>
        <a:xfrm>
          <a:off x="487106" y="362998"/>
          <a:ext cx="885648" cy="8856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3ADBD5-CD9D-450F-9864-53E7135A962C}">
      <dsp:nvSpPr>
        <dsp:cNvPr id="0" name=""/>
        <dsp:cNvSpPr/>
      </dsp:nvSpPr>
      <dsp:spPr>
        <a:xfrm>
          <a:off x="1859861" y="688"/>
          <a:ext cx="6627191" cy="1610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420" tIns="170420" rIns="170420" bIns="170420" numCol="1" spcCol="1270" anchor="ctr" anchorCtr="0">
          <a:noAutofit/>
        </a:bodyPr>
        <a:lstStyle/>
        <a:p>
          <a:pPr marL="0" lvl="0" indent="0" algn="l" defTabSz="1066800">
            <a:lnSpc>
              <a:spcPct val="100000"/>
            </a:lnSpc>
            <a:spcBef>
              <a:spcPct val="0"/>
            </a:spcBef>
            <a:spcAft>
              <a:spcPct val="35000"/>
            </a:spcAft>
            <a:buNone/>
          </a:pPr>
          <a:r>
            <a:rPr lang="en-US" sz="2400" b="0" kern="1200" dirty="0"/>
            <a:t>Integration of advanced cooling systems for higher safety.</a:t>
          </a:r>
        </a:p>
      </dsp:txBody>
      <dsp:txXfrm>
        <a:off x="1859861" y="688"/>
        <a:ext cx="6627191" cy="1610269"/>
      </dsp:txXfrm>
    </dsp:sp>
    <dsp:sp modelId="{F708D04B-D7B1-455B-8BC8-850367B3D450}">
      <dsp:nvSpPr>
        <dsp:cNvPr id="0" name=""/>
        <dsp:cNvSpPr/>
      </dsp:nvSpPr>
      <dsp:spPr>
        <a:xfrm>
          <a:off x="0" y="2013525"/>
          <a:ext cx="8487053" cy="1610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A8F4F5-EC64-4A19-BCC6-687ACBFCB9A3}">
      <dsp:nvSpPr>
        <dsp:cNvPr id="0" name=""/>
        <dsp:cNvSpPr/>
      </dsp:nvSpPr>
      <dsp:spPr>
        <a:xfrm>
          <a:off x="487106" y="2375835"/>
          <a:ext cx="885648" cy="8856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FA7A88-4006-4E06-84CC-3856A2C92B2D}">
      <dsp:nvSpPr>
        <dsp:cNvPr id="0" name=""/>
        <dsp:cNvSpPr/>
      </dsp:nvSpPr>
      <dsp:spPr>
        <a:xfrm>
          <a:off x="1859861" y="2013525"/>
          <a:ext cx="6627191" cy="1610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420" tIns="170420" rIns="170420" bIns="170420" numCol="1" spcCol="1270" anchor="ctr" anchorCtr="0">
          <a:noAutofit/>
        </a:bodyPr>
        <a:lstStyle/>
        <a:p>
          <a:pPr marL="0" lvl="0" indent="0" algn="l" defTabSz="1066800">
            <a:lnSpc>
              <a:spcPct val="100000"/>
            </a:lnSpc>
            <a:spcBef>
              <a:spcPct val="0"/>
            </a:spcBef>
            <a:spcAft>
              <a:spcPct val="35000"/>
            </a:spcAft>
            <a:buNone/>
          </a:pPr>
          <a:r>
            <a:rPr lang="en-US" sz="2400" b="0" kern="1200" dirty="0"/>
            <a:t>Use of solid-state batteries for improved energy density.</a:t>
          </a:r>
        </a:p>
      </dsp:txBody>
      <dsp:txXfrm>
        <a:off x="1859861" y="2013525"/>
        <a:ext cx="6627191" cy="1610269"/>
      </dsp:txXfrm>
    </dsp:sp>
    <dsp:sp modelId="{89F55293-AA5C-4083-A40D-229247DD3CF0}">
      <dsp:nvSpPr>
        <dsp:cNvPr id="0" name=""/>
        <dsp:cNvSpPr/>
      </dsp:nvSpPr>
      <dsp:spPr>
        <a:xfrm>
          <a:off x="0" y="4026362"/>
          <a:ext cx="8487053" cy="161026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667E8F-0413-427D-AB8B-EF8E9411C554}">
      <dsp:nvSpPr>
        <dsp:cNvPr id="0" name=""/>
        <dsp:cNvSpPr/>
      </dsp:nvSpPr>
      <dsp:spPr>
        <a:xfrm>
          <a:off x="487106" y="4388672"/>
          <a:ext cx="885648" cy="8856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30B23E-C354-4529-A386-B921F5E18D5E}">
      <dsp:nvSpPr>
        <dsp:cNvPr id="0" name=""/>
        <dsp:cNvSpPr/>
      </dsp:nvSpPr>
      <dsp:spPr>
        <a:xfrm>
          <a:off x="1859861" y="4026362"/>
          <a:ext cx="6627191" cy="16102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420" tIns="170420" rIns="170420" bIns="170420" numCol="1" spcCol="1270" anchor="ctr" anchorCtr="0">
          <a:noAutofit/>
        </a:bodyPr>
        <a:lstStyle/>
        <a:p>
          <a:pPr marL="0" lvl="0" indent="0" algn="just" defTabSz="1066800">
            <a:lnSpc>
              <a:spcPct val="100000"/>
            </a:lnSpc>
            <a:spcBef>
              <a:spcPct val="0"/>
            </a:spcBef>
            <a:spcAft>
              <a:spcPct val="35000"/>
            </a:spcAft>
            <a:buNone/>
          </a:pPr>
          <a:r>
            <a:rPr lang="en-US" sz="2400" b="0" kern="1200" dirty="0"/>
            <a:t>Development of smart BMS with IoT monitoring. Scaling design for commercial EV applications.</a:t>
          </a:r>
          <a:br>
            <a:rPr lang="en-US" sz="2400" b="0" kern="1200" dirty="0"/>
          </a:br>
          <a:endParaRPr lang="en-US" sz="2400" b="0" kern="1200" dirty="0"/>
        </a:p>
      </dsp:txBody>
      <dsp:txXfrm>
        <a:off x="1859861" y="4026362"/>
        <a:ext cx="6627191" cy="161026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6A2EAB-922D-4F25-A4A2-2921C1A38CA7}" type="datetimeFigureOut">
              <a:rPr lang="en-US" smtClean="0"/>
              <a:pPr/>
              <a:t>6/25/2026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B9858F-27CD-49C4-A844-F1CE33896B88}" type="slidenum">
              <a:rPr lang="en-US" smtClean="0"/>
              <a:pPr/>
              <a:t>‹#›</a:t>
            </a:fld>
            <a:endParaRPr lang="en-US" dirty="0"/>
          </a:p>
        </p:txBody>
      </p:sp>
    </p:spTree>
    <p:extLst>
      <p:ext uri="{BB962C8B-B14F-4D97-AF65-F5344CB8AC3E}">
        <p14:creationId xmlns:p14="http://schemas.microsoft.com/office/powerpoint/2010/main" val="1431186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AB9858F-27CD-49C4-A844-F1CE33896B88}" type="slidenum">
              <a:rPr lang="en-US" smtClean="0"/>
              <a:pPr/>
              <a:t>23</a:t>
            </a:fld>
            <a:endParaRPr lang="en-US" dirty="0"/>
          </a:p>
        </p:txBody>
      </p:sp>
    </p:spTree>
    <p:extLst>
      <p:ext uri="{BB962C8B-B14F-4D97-AF65-F5344CB8AC3E}">
        <p14:creationId xmlns:p14="http://schemas.microsoft.com/office/powerpoint/2010/main" val="948167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D080514-DAC0-4262-BD26-5E3A5691FC91}" type="datetime1">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86059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CE199B-8986-4CAA-8E5F-97BD7675F744}" type="datetime1">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2559808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88CA0B-C1DF-4714-9D6A-51F6A97D7554}" type="datetime1">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107568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E4DAA1-FD53-4CBE-97DF-4362FF51616A}" type="datetime1">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3872123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517F7B6-E61F-4E8B-9D85-A41041A2E5C1}" type="datetime1">
              <a:rPr lang="en-US" smtClean="0"/>
              <a:t>6/25/2026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2962113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C4A7DA-5729-4077-823F-687DCD9B59B8}" type="datetime1">
              <a:rPr lang="en-US" smtClean="0"/>
              <a:t>6/25/2026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122654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8E6636-A3BE-45B8-893F-6EA72262291D}" type="datetime1">
              <a:rPr lang="en-US" smtClean="0"/>
              <a:t>6/25/2026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677965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AB6B44-B695-4182-BDE8-91575AE00BD2}" type="datetime1">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1431452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A13866-26D2-4B67-8A01-BAD038A03A61}" type="datetime1">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440980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F6EB17-E503-4D11-8F20-DEBF8AA23A38}" type="datetime1">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1289049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8B5D33-F298-4FAD-B149-B35F769826D0}" type="datetime1">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2422971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615289-DB41-41C7-8D2F-7769C5783359}" type="datetime1">
              <a:rPr lang="en-US" smtClean="0"/>
              <a:t>6/25/2026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4D6F18-1E43-4B37-903B-99F7EF8299C6}" type="slidenum">
              <a:rPr lang="en-US" smtClean="0"/>
              <a:pPr/>
              <a:t>‹#›</a:t>
            </a:fld>
            <a:endParaRPr lang="en-US" dirty="0"/>
          </a:p>
        </p:txBody>
      </p:sp>
    </p:spTree>
    <p:extLst>
      <p:ext uri="{BB962C8B-B14F-4D97-AF65-F5344CB8AC3E}">
        <p14:creationId xmlns:p14="http://schemas.microsoft.com/office/powerpoint/2010/main" val="54754089"/>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84200" y="1066800"/>
            <a:ext cx="8153400" cy="5955476"/>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Project Review Stage: 2 </a:t>
            </a:r>
          </a:p>
          <a:p>
            <a:pPr algn="ctr"/>
            <a:r>
              <a:rPr lang="en-US" sz="2000" b="1" dirty="0">
                <a:latin typeface="Times New Roman" pitchFamily="18" charset="0"/>
                <a:cs typeface="Times New Roman" pitchFamily="18" charset="0"/>
              </a:rPr>
              <a:t>On</a:t>
            </a:r>
          </a:p>
          <a:p>
            <a:pPr algn="ctr"/>
            <a:r>
              <a:rPr lang="en-US" sz="2000" b="1" dirty="0">
                <a:latin typeface="Times New Roman" pitchFamily="18" charset="0"/>
                <a:cs typeface="Times New Roman" pitchFamily="18" charset="0"/>
              </a:rPr>
              <a:t>TITAN 72V :Electrical Racing Battery Pack Using Smart BMS</a:t>
            </a:r>
            <a:endParaRPr lang="en-US" sz="2000"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By</a:t>
            </a:r>
            <a:endParaRPr lang="en-US" sz="2000" dirty="0">
              <a:latin typeface="Times New Roman" pitchFamily="18" charset="0"/>
              <a:cs typeface="Times New Roman" pitchFamily="18" charset="0"/>
            </a:endParaRPr>
          </a:p>
          <a:p>
            <a:pPr algn="ctr"/>
            <a:r>
              <a:rPr lang="en-US" b="1" dirty="0">
                <a:latin typeface="Times New Roman" pitchFamily="18" charset="0"/>
                <a:cs typeface="Times New Roman" pitchFamily="18" charset="0"/>
              </a:rPr>
              <a:t>Prathmesh R Gangode</a:t>
            </a:r>
          </a:p>
          <a:p>
            <a:pPr algn="ctr"/>
            <a:r>
              <a:rPr lang="en-US" b="1" dirty="0">
                <a:latin typeface="Times New Roman" pitchFamily="18" charset="0"/>
                <a:cs typeface="Times New Roman" pitchFamily="18" charset="0"/>
              </a:rPr>
              <a:t>Sanket B Fuge</a:t>
            </a:r>
          </a:p>
          <a:p>
            <a:pPr algn="ctr"/>
            <a:r>
              <a:rPr lang="en-US" b="1" dirty="0">
                <a:latin typeface="Times New Roman" pitchFamily="18" charset="0"/>
                <a:cs typeface="Times New Roman" pitchFamily="18" charset="0"/>
              </a:rPr>
              <a:t>Nikhil B Sase</a:t>
            </a:r>
          </a:p>
          <a:p>
            <a:pPr algn="ctr"/>
            <a:endParaRPr lang="en-US" sz="2000" b="1"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Guided by</a:t>
            </a:r>
          </a:p>
          <a:p>
            <a:pPr algn="ctr"/>
            <a:r>
              <a:rPr lang="en-US" sz="2000" b="1" dirty="0">
                <a:latin typeface="Times New Roman" pitchFamily="18" charset="0"/>
                <a:cs typeface="Times New Roman" pitchFamily="18" charset="0"/>
              </a:rPr>
              <a:t>Prof. Miss S. K. Awaze</a:t>
            </a:r>
          </a:p>
          <a:p>
            <a:pPr algn="ctr"/>
            <a:endParaRPr lang="en-US" sz="2000"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 </a:t>
            </a:r>
            <a:endParaRPr lang="en-US" sz="2000"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 </a:t>
            </a:r>
          </a:p>
          <a:p>
            <a:pPr algn="ctr"/>
            <a:endParaRPr lang="en-US" sz="2000" dirty="0">
              <a:latin typeface="Times New Roman" pitchFamily="18" charset="0"/>
              <a:cs typeface="Times New Roman" pitchFamily="18" charset="0"/>
            </a:endParaRPr>
          </a:p>
          <a:p>
            <a:pPr algn="ctr"/>
            <a:endParaRPr lang="en-US" sz="1100"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   DEPARTMENT OF ELECTRICAL ENGINEERING</a:t>
            </a:r>
            <a:endParaRPr lang="en-US" sz="2000" dirty="0">
              <a:latin typeface="Times New Roman" pitchFamily="18" charset="0"/>
              <a:cs typeface="Times New Roman" pitchFamily="18" charset="0"/>
            </a:endParaRPr>
          </a:p>
          <a:p>
            <a:pPr algn="ctr"/>
            <a:r>
              <a:rPr lang="en-US" sz="2000" dirty="0">
                <a:latin typeface="Times New Roman" pitchFamily="18" charset="0"/>
                <a:cs typeface="Times New Roman" pitchFamily="18" charset="0"/>
              </a:rPr>
              <a:t>    D.V.V.P. College OF Engineering,MIDC, </a:t>
            </a:r>
          </a:p>
          <a:p>
            <a:pPr algn="ct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Vilad</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Ghat</a:t>
            </a:r>
            <a:r>
              <a:rPr lang="en-US" sz="2000" dirty="0">
                <a:latin typeface="Times New Roman" pitchFamily="18" charset="0"/>
                <a:cs typeface="Times New Roman" pitchFamily="18" charset="0"/>
              </a:rPr>
              <a:t>, PO- 414 111 Ahmednagar</a:t>
            </a:r>
            <a:r>
              <a:rPr lang="en-US" sz="2000" dirty="0"/>
              <a:t>.</a:t>
            </a:r>
          </a:p>
          <a:p>
            <a:br>
              <a:rPr lang="en-US" sz="2000" dirty="0"/>
            </a:br>
            <a:endParaRPr lang="en-US" sz="1600" b="1" dirty="0"/>
          </a:p>
        </p:txBody>
      </p:sp>
      <p:pic>
        <p:nvPicPr>
          <p:cNvPr id="8" name="Picture 7"/>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182435"/>
            <a:ext cx="8897937" cy="88436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a:spLocks noChangeArrowheads="1"/>
          </p:cNvSpPr>
          <p:nvPr/>
        </p:nvSpPr>
        <p:spPr bwMode="auto">
          <a:xfrm>
            <a:off x="2057400" y="182435"/>
            <a:ext cx="48006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Dr. Vithalrao Vikhe </a:t>
            </a:r>
            <a:r>
              <a:rPr kumimoji="0" lang="en-US" sz="1400" b="1"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Patil</a:t>
            </a: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College of Engineering, Ahmednagar</a:t>
            </a:r>
            <a:endParaRPr kumimoji="0" lang="en-US" sz="9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Department of Electrical Engineering</a:t>
            </a: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endParaRPr kumimoji="0" lang="en-US" sz="9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pic>
        <p:nvPicPr>
          <p:cNvPr id="5" name="Picture 4" descr="Padmashri Dr.Vitahalrao Vikhe Patil ..."/>
          <p:cNvPicPr/>
          <p:nvPr/>
        </p:nvPicPr>
        <p:blipFill>
          <a:blip r:embed="rId3">
            <a:extLst>
              <a:ext uri="{28A0092B-C50C-407E-A947-70E740481C1C}">
                <a14:useLocalDpi xmlns:a14="http://schemas.microsoft.com/office/drawing/2010/main" val="0"/>
              </a:ext>
            </a:extLst>
          </a:blip>
          <a:srcRect/>
          <a:stretch>
            <a:fillRect/>
          </a:stretch>
        </p:blipFill>
        <p:spPr bwMode="auto">
          <a:xfrm>
            <a:off x="4049871" y="4044538"/>
            <a:ext cx="1222058" cy="1143000"/>
          </a:xfrm>
          <a:prstGeom prst="rect">
            <a:avLst/>
          </a:prstGeom>
          <a:noFill/>
          <a:ln>
            <a:noFill/>
          </a:ln>
        </p:spPr>
      </p:pic>
      <p:sp>
        <p:nvSpPr>
          <p:cNvPr id="2" name="Slide Number Placeholder 1"/>
          <p:cNvSpPr>
            <a:spLocks noGrp="1"/>
          </p:cNvSpPr>
          <p:nvPr>
            <p:ph type="sldNum" sz="quarter" idx="12"/>
          </p:nvPr>
        </p:nvSpPr>
        <p:spPr/>
        <p:txBody>
          <a:bodyPr/>
          <a:lstStyle/>
          <a:p>
            <a:fld id="{974D6F18-1E43-4B37-903B-99F7EF8299C6}" type="slidenum">
              <a:rPr lang="en-US" smtClean="0"/>
              <a:pPr/>
              <a:t>1</a:t>
            </a:fld>
            <a:endParaRPr lang="en-US" dirty="0"/>
          </a:p>
        </p:txBody>
      </p:sp>
    </p:spTree>
    <p:extLst>
      <p:ext uri="{BB962C8B-B14F-4D97-AF65-F5344CB8AC3E}">
        <p14:creationId xmlns:p14="http://schemas.microsoft.com/office/powerpoint/2010/main" val="3079401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8968" y="1600200"/>
            <a:ext cx="8229600" cy="4525963"/>
          </a:xfrm>
        </p:spPr>
        <p:txBody>
          <a:bodyPr>
            <a:normAutofit/>
          </a:bodyPr>
          <a:lstStyle/>
          <a:p>
            <a:pPr marL="0" indent="0" algn="ctr">
              <a:buNone/>
            </a:pPr>
            <a:r>
              <a:rPr lang="en-IN" sz="2200" b="1" dirty="0">
                <a:latin typeface="Times New Roman" panose="02020603050405020304" pitchFamily="18" charset="0"/>
                <a:cs typeface="Times New Roman" panose="02020603050405020304" pitchFamily="18" charset="0"/>
              </a:rPr>
              <a:t>Contents</a:t>
            </a:r>
            <a:endParaRPr lang="en-IN" sz="16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Abstract</a:t>
            </a:r>
          </a:p>
          <a:p>
            <a:pPr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Introduction</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Literature Survey </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Problem Statement</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Block Diagram</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Objectives</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Design &amp; Methodology</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Testing &amp; Performance Evaluation</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Conclusion</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References (Research papers) </a:t>
            </a:r>
          </a:p>
          <a:p>
            <a:pPr marL="0" indent="0">
              <a:buNone/>
            </a:pPr>
            <a:endParaRPr lang="en-US" dirty="0"/>
          </a:p>
        </p:txBody>
      </p:sp>
      <p:pic>
        <p:nvPicPr>
          <p:cNvPr id="4"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182435"/>
            <a:ext cx="8897937" cy="8843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2057400" y="182435"/>
            <a:ext cx="48006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Dr. Vithalrao Vikhe </a:t>
            </a:r>
            <a:r>
              <a:rPr kumimoji="0" lang="en-US" sz="1400" b="1"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Patil</a:t>
            </a: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College of Engineering, Ahmednagar</a:t>
            </a:r>
            <a:endParaRPr kumimoji="0" lang="en-US" sz="9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Department of Electrical Engineering</a:t>
            </a: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endParaRPr kumimoji="0" lang="en-US" sz="9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 name="Slide Number Placeholder 1"/>
          <p:cNvSpPr>
            <a:spLocks noGrp="1"/>
          </p:cNvSpPr>
          <p:nvPr>
            <p:ph type="sldNum" sz="quarter" idx="12"/>
          </p:nvPr>
        </p:nvSpPr>
        <p:spPr/>
        <p:txBody>
          <a:bodyPr/>
          <a:lstStyle/>
          <a:p>
            <a:fld id="{974D6F18-1E43-4B37-903B-99F7EF8299C6}" type="slidenum">
              <a:rPr lang="en-US" smtClean="0"/>
              <a:pPr/>
              <a:t>2</a:t>
            </a:fld>
            <a:endParaRPr lang="en-US" dirty="0"/>
          </a:p>
        </p:txBody>
      </p:sp>
    </p:spTree>
    <p:extLst>
      <p:ext uri="{BB962C8B-B14F-4D97-AF65-F5344CB8AC3E}">
        <p14:creationId xmlns:p14="http://schemas.microsoft.com/office/powerpoint/2010/main" val="4184429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C2AB9-2C36-B15B-82CD-029EFB0910B4}"/>
              </a:ext>
            </a:extLst>
          </p:cNvPr>
          <p:cNvSpPr>
            <a:spLocks noGrp="1"/>
          </p:cNvSpPr>
          <p:nvPr>
            <p:ph type="title"/>
          </p:nvPr>
        </p:nvSpPr>
        <p:spPr>
          <a:xfrm>
            <a:off x="457200" y="105352"/>
            <a:ext cx="8229600" cy="411162"/>
          </a:xfrm>
        </p:spPr>
        <p:txBody>
          <a:bodyPr>
            <a:noAutofit/>
          </a:bodyPr>
          <a:lstStyle/>
          <a:p>
            <a:r>
              <a:rPr lang="en-IN" sz="24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02F8A45A-BB50-8A9B-202E-9790EA1B86FE}"/>
              </a:ext>
            </a:extLst>
          </p:cNvPr>
          <p:cNvSpPr>
            <a:spLocks noGrp="1"/>
          </p:cNvSpPr>
          <p:nvPr>
            <p:ph idx="1"/>
          </p:nvPr>
        </p:nvSpPr>
        <p:spPr>
          <a:xfrm>
            <a:off x="304800" y="838200"/>
            <a:ext cx="8382000" cy="5872884"/>
          </a:xfrm>
        </p:spPr>
        <p:txBody>
          <a:bodyPr>
            <a:normAutofit fontScale="47500" lnSpcReduction="20000"/>
          </a:bodyPr>
          <a:lstStyle/>
          <a:p>
            <a:pPr algn="just">
              <a:lnSpc>
                <a:spcPct val="120000"/>
              </a:lnSpc>
            </a:pPr>
            <a:r>
              <a:rPr lang="en-IN" sz="4000" dirty="0">
                <a:latin typeface="Times New Roman" panose="02020603050405020304" pitchFamily="18" charset="0"/>
                <a:cs typeface="Times New Roman" panose="02020603050405020304" pitchFamily="18" charset="0"/>
              </a:rPr>
              <a:t>This project focuses on the design and development of a 72V lithium-ion battery pack specifically intended for electric racing vehicles, where high energy density, high power output, and reliability are critical performance requirements. The battery pack is engineered to deliver rapid discharge capabilities, enabling the vehicle to achieve the acceleration and power demands associated with racing applications. To ensure safe and efficient operation under demanding conditions, the system incorporates advanced thermal management considerations that enhance thermal stability and minimize the risk of overheating.</a:t>
            </a:r>
          </a:p>
          <a:p>
            <a:pPr algn="just">
              <a:lnSpc>
                <a:spcPct val="120000"/>
              </a:lnSpc>
            </a:pPr>
            <a:r>
              <a:rPr lang="en-IN" sz="4000" dirty="0">
                <a:latin typeface="Times New Roman" panose="02020603050405020304" pitchFamily="18" charset="0"/>
                <a:cs typeface="Times New Roman" panose="02020603050405020304" pitchFamily="18" charset="0"/>
              </a:rPr>
              <a:t>A key feature of the battery pack is the integration of a Smart Battery Management System (BMS), which continuously monitors essential battery parameters, including cell voltage, current, temperature, and State of Charge (SOC). The BMS plays a vital role in maintaining battery health and operational safety by implementing protective mechanisms against overcharging, over-discharging, short circuits, and thermal runaway. Additionally, it performs cell balancing to ensure uniform charge distribution among cells, thereby improving overall battery efficiency, performance consistency, and lifespan. The developed 72V lithium-ion battery system provides a safe, efficient, and high-performance energy solution, making it highly suitable for modern electric racing vehicle applications.</a:t>
            </a:r>
          </a:p>
          <a:p>
            <a:pPr marL="0" indent="0">
              <a:buNone/>
            </a:pPr>
            <a:endParaRPr lang="en-IN" dirty="0"/>
          </a:p>
        </p:txBody>
      </p:sp>
      <p:sp>
        <p:nvSpPr>
          <p:cNvPr id="4" name="Slide Number Placeholder 3">
            <a:extLst>
              <a:ext uri="{FF2B5EF4-FFF2-40B4-BE49-F238E27FC236}">
                <a16:creationId xmlns:a16="http://schemas.microsoft.com/office/drawing/2014/main" id="{19A7F551-1FFB-8341-A03D-6603AFDFCBB8}"/>
              </a:ext>
            </a:extLst>
          </p:cNvPr>
          <p:cNvSpPr>
            <a:spLocks noGrp="1"/>
          </p:cNvSpPr>
          <p:nvPr>
            <p:ph type="sldNum" sz="quarter" idx="12"/>
          </p:nvPr>
        </p:nvSpPr>
        <p:spPr/>
        <p:txBody>
          <a:bodyPr/>
          <a:lstStyle/>
          <a:p>
            <a:fld id="{974D6F18-1E43-4B37-903B-99F7EF8299C6}" type="slidenum">
              <a:rPr lang="en-US" smtClean="0"/>
              <a:pPr/>
              <a:t>3</a:t>
            </a:fld>
            <a:endParaRPr lang="en-US" dirty="0"/>
          </a:p>
        </p:txBody>
      </p:sp>
    </p:spTree>
    <p:extLst>
      <p:ext uri="{BB962C8B-B14F-4D97-AF65-F5344CB8AC3E}">
        <p14:creationId xmlns:p14="http://schemas.microsoft.com/office/powerpoint/2010/main" val="2624165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6690E64-A216-FE65-D24C-B557E6409281}"/>
              </a:ext>
            </a:extLst>
          </p:cNvPr>
          <p:cNvSpPr/>
          <p:nvPr/>
        </p:nvSpPr>
        <p:spPr>
          <a:xfrm>
            <a:off x="457200" y="637533"/>
            <a:ext cx="8001000" cy="5458468"/>
          </a:xfrm>
          <a:prstGeom prst="rect">
            <a:avLst/>
          </a:prstGeom>
          <a:blipFill dpi="0" rotWithShape="1">
            <a:blip r:embed="rId2">
              <a:alphaModFix amt="25000"/>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p:cNvSpPr>
            <a:spLocks noGrp="1"/>
          </p:cNvSpPr>
          <p:nvPr>
            <p:ph type="body" sz="half" idx="2"/>
          </p:nvPr>
        </p:nvSpPr>
        <p:spPr>
          <a:xfrm>
            <a:off x="37069" y="0"/>
            <a:ext cx="8954531" cy="6721475"/>
          </a:xfrm>
        </p:spPr>
        <p:txBody>
          <a:bodyPr>
            <a:normAutofit/>
          </a:bodyPr>
          <a:lstStyle/>
          <a:p>
            <a:pPr algn="ctr"/>
            <a:r>
              <a:rPr lang="en-US" sz="2800" b="1" dirty="0">
                <a:latin typeface="Times New Roman" panose="02020603050405020304" pitchFamily="18" charset="0"/>
                <a:cs typeface="Times New Roman" panose="02020603050405020304" pitchFamily="18" charset="0"/>
              </a:rPr>
              <a:t> Introduction</a:t>
            </a:r>
            <a:endParaRPr lang="en-US" sz="2800" dirty="0"/>
          </a:p>
        </p:txBody>
      </p:sp>
      <p:sp>
        <p:nvSpPr>
          <p:cNvPr id="6" name="Rectangle 5"/>
          <p:cNvSpPr/>
          <p:nvPr/>
        </p:nvSpPr>
        <p:spPr>
          <a:xfrm>
            <a:off x="545755" y="1031815"/>
            <a:ext cx="8388179" cy="5632311"/>
          </a:xfrm>
          <a:prstGeom prst="rect">
            <a:avLst/>
          </a:prstGeom>
        </p:spPr>
        <p:txBody>
          <a:bodyPr wrap="square">
            <a:spAutoFit/>
          </a:bodyPr>
          <a:lstStyle/>
          <a:p>
            <a:pPr algn="just">
              <a:tabLst>
                <a:tab pos="7262813" algn="l"/>
              </a:tabLst>
            </a:pPr>
            <a:r>
              <a:rPr lang="en-US" sz="2400" dirty="0">
                <a:latin typeface="Times New Roman" panose="02020603050405020304" pitchFamily="18" charset="0"/>
                <a:cs typeface="Times New Roman" panose="02020603050405020304" pitchFamily="18" charset="0"/>
              </a:rPr>
              <a:t>1.Electric vehicles rely on high-performance battery packs as</a:t>
            </a:r>
          </a:p>
          <a:p>
            <a:pPr algn="just"/>
            <a:r>
              <a:rPr lang="en-US" sz="2400" dirty="0">
                <a:latin typeface="Times New Roman" panose="02020603050405020304" pitchFamily="18" charset="0"/>
                <a:cs typeface="Times New Roman" panose="02020603050405020304" pitchFamily="18" charset="0"/>
              </a:rPr>
              <a:t> their primary energy source.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2.In racing applications, lightweight, efficient, and safe </a:t>
            </a:r>
          </a:p>
          <a:p>
            <a:pPr algn="just"/>
            <a:r>
              <a:rPr lang="en-US" sz="2400" dirty="0">
                <a:latin typeface="Times New Roman" panose="02020603050405020304" pitchFamily="18" charset="0"/>
                <a:cs typeface="Times New Roman" panose="02020603050405020304" pitchFamily="18" charset="0"/>
              </a:rPr>
              <a:t>batteries are critical for performance.</a:t>
            </a:r>
          </a:p>
          <a:p>
            <a:pPr algn="just"/>
            <a:endParaRPr lang="en-US" sz="2400" dirty="0">
              <a:latin typeface="Times New Roman" panose="02020603050405020304" pitchFamily="18" charset="0"/>
              <a:cs typeface="Times New Roman" panose="02020603050405020304" pitchFamily="18" charset="0"/>
            </a:endParaRPr>
          </a:p>
          <a:p>
            <a:pPr algn="just">
              <a:tabLst>
                <a:tab pos="7148513" algn="l"/>
              </a:tabLst>
            </a:pPr>
            <a:r>
              <a:rPr lang="en-US" sz="2400" dirty="0">
                <a:latin typeface="Times New Roman" panose="02020603050405020304" pitchFamily="18" charset="0"/>
                <a:cs typeface="Times New Roman" panose="02020603050405020304" pitchFamily="18" charset="0"/>
              </a:rPr>
              <a:t>3.Our project focuses on designing and understanding a </a:t>
            </a:r>
          </a:p>
          <a:p>
            <a:pPr algn="just">
              <a:tabLst>
                <a:tab pos="7148513" algn="l"/>
              </a:tabLst>
            </a:pPr>
            <a:r>
              <a:rPr lang="en-US" sz="2400" dirty="0">
                <a:latin typeface="Times New Roman" panose="02020603050405020304" pitchFamily="18" charset="0"/>
                <a:cs typeface="Times New Roman" panose="02020603050405020304" pitchFamily="18" charset="0"/>
              </a:rPr>
              <a:t>72V battery pack used in racing vehicles.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4.This project bridges theoretical knowledge and</a:t>
            </a:r>
          </a:p>
          <a:p>
            <a:pPr algn="just"/>
            <a:r>
              <a:rPr lang="en-US" sz="2400" dirty="0">
                <a:latin typeface="Times New Roman" panose="02020603050405020304" pitchFamily="18" charset="0"/>
                <a:cs typeface="Times New Roman" panose="02020603050405020304" pitchFamily="18" charset="0"/>
              </a:rPr>
              <a:t>practical implementation.</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br>
              <a:rPr lang="en-US" sz="2400" dirty="0">
                <a:latin typeface="Times New Roman" panose="02020603050405020304" pitchFamily="18" charset="0"/>
                <a:cs typeface="Times New Roman" panose="02020603050405020304" pitchFamily="18" charset="0"/>
              </a:rPr>
            </a:br>
            <a:endParaRPr lang="en-US" sz="2400" dirty="0"/>
          </a:p>
        </p:txBody>
      </p:sp>
      <p:sp>
        <p:nvSpPr>
          <p:cNvPr id="7" name="Slide Number Placeholder 6"/>
          <p:cNvSpPr>
            <a:spLocks noGrp="1"/>
          </p:cNvSpPr>
          <p:nvPr>
            <p:ph type="sldNum" sz="quarter" idx="12"/>
          </p:nvPr>
        </p:nvSpPr>
        <p:spPr/>
        <p:txBody>
          <a:bodyPr/>
          <a:lstStyle/>
          <a:p>
            <a:fld id="{974D6F18-1E43-4B37-903B-99F7EF8299C6}" type="slidenum">
              <a:rPr lang="en-US" smtClean="0"/>
              <a:pPr/>
              <a:t>4</a:t>
            </a:fld>
            <a:endParaRPr lang="en-US" dirty="0"/>
          </a:p>
        </p:txBody>
      </p:sp>
    </p:spTree>
    <p:extLst>
      <p:ext uri="{BB962C8B-B14F-4D97-AF65-F5344CB8AC3E}">
        <p14:creationId xmlns:p14="http://schemas.microsoft.com/office/powerpoint/2010/main" val="3647485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944435"/>
            <a:ext cx="6963569" cy="416747"/>
          </a:xfrm>
        </p:spPr>
        <p:txBody>
          <a:bodyPr>
            <a:normAutofit fontScale="90000"/>
          </a:bodyPr>
          <a:lstStyle/>
          <a:p>
            <a:pPr marL="514350" indent="-514350"/>
            <a:r>
              <a:rPr lang="en-US" sz="2800" dirty="0">
                <a:latin typeface="Times New Roman" pitchFamily="18" charset="0"/>
                <a:cs typeface="Times New Roman" pitchFamily="18" charset="0"/>
              </a:rPr>
              <a:t>Literature survey</a:t>
            </a:r>
          </a:p>
        </p:txBody>
      </p:sp>
      <p:pic>
        <p:nvPicPr>
          <p:cNvPr id="5"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0182" y="182434"/>
            <a:ext cx="8897937" cy="8843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2057400" y="228600"/>
            <a:ext cx="48006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Dr. Vithalrao Vikhe </a:t>
            </a:r>
            <a:r>
              <a:rPr kumimoji="0" lang="en-US" sz="1400" b="1"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Patil</a:t>
            </a: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College of Engineering, Ahmednagar</a:t>
            </a:r>
            <a:endParaRPr kumimoji="0" lang="en-US" sz="9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Department of Electrical Engineering</a:t>
            </a: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endParaRPr kumimoji="0" lang="en-US" sz="9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4064788744"/>
              </p:ext>
            </p:extLst>
          </p:nvPr>
        </p:nvGraphicFramePr>
        <p:xfrm>
          <a:off x="546249" y="1334851"/>
          <a:ext cx="8305801" cy="5385182"/>
        </p:xfrm>
        <a:graphic>
          <a:graphicData uri="http://schemas.openxmlformats.org/drawingml/2006/table">
            <a:tbl>
              <a:tblPr/>
              <a:tblGrid>
                <a:gridCol w="226522">
                  <a:extLst>
                    <a:ext uri="{9D8B030D-6E8A-4147-A177-3AD203B41FA5}">
                      <a16:colId xmlns:a16="http://schemas.microsoft.com/office/drawing/2014/main" val="20000"/>
                    </a:ext>
                  </a:extLst>
                </a:gridCol>
                <a:gridCol w="883326">
                  <a:extLst>
                    <a:ext uri="{9D8B030D-6E8A-4147-A177-3AD203B41FA5}">
                      <a16:colId xmlns:a16="http://schemas.microsoft.com/office/drawing/2014/main" val="20001"/>
                    </a:ext>
                  </a:extLst>
                </a:gridCol>
                <a:gridCol w="1263237">
                  <a:extLst>
                    <a:ext uri="{9D8B030D-6E8A-4147-A177-3AD203B41FA5}">
                      <a16:colId xmlns:a16="http://schemas.microsoft.com/office/drawing/2014/main" val="20002"/>
                    </a:ext>
                  </a:extLst>
                </a:gridCol>
                <a:gridCol w="889907">
                  <a:extLst>
                    <a:ext uri="{9D8B030D-6E8A-4147-A177-3AD203B41FA5}">
                      <a16:colId xmlns:a16="http://schemas.microsoft.com/office/drawing/2014/main" val="20003"/>
                    </a:ext>
                  </a:extLst>
                </a:gridCol>
                <a:gridCol w="2223409">
                  <a:extLst>
                    <a:ext uri="{9D8B030D-6E8A-4147-A177-3AD203B41FA5}">
                      <a16:colId xmlns:a16="http://schemas.microsoft.com/office/drawing/2014/main" val="20004"/>
                    </a:ext>
                  </a:extLst>
                </a:gridCol>
                <a:gridCol w="14478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573395">
                <a:tc>
                  <a:txBody>
                    <a:bodyPr/>
                    <a:lstStyle/>
                    <a:p>
                      <a:pPr marL="0" marR="0" algn="ctr">
                        <a:lnSpc>
                          <a:spcPct val="115000"/>
                        </a:lnSpc>
                        <a:spcBef>
                          <a:spcPts val="0"/>
                        </a:spcBef>
                        <a:spcAft>
                          <a:spcPts val="0"/>
                        </a:spcAft>
                      </a:pPr>
                      <a:r>
                        <a:rPr lang="en-US" sz="1200" b="1" dirty="0">
                          <a:latin typeface="Times New Roman" pitchFamily="18" charset="0"/>
                          <a:ea typeface="Calibri"/>
                          <a:cs typeface="Times New Roman" pitchFamily="18" charset="0"/>
                        </a:rPr>
                        <a:t>Sr. No.</a:t>
                      </a:r>
                      <a:endParaRPr lang="en-US" sz="1200" dirty="0">
                        <a:latin typeface="Times New Roman" pitchFamily="18" charset="0"/>
                        <a:ea typeface="Calibri"/>
                        <a:cs typeface="Times New Roman" pitchFamily="18" charset="0"/>
                      </a:endParaRPr>
                    </a:p>
                  </a:txBody>
                  <a:tcPr marL="3024" marR="3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latin typeface="Times New Roman" pitchFamily="18" charset="0"/>
                          <a:ea typeface="Calibri"/>
                          <a:cs typeface="Times New Roman" pitchFamily="18" charset="0"/>
                        </a:rPr>
                        <a:t>Author</a:t>
                      </a:r>
                      <a:endParaRPr lang="en-US" sz="1200" dirty="0">
                        <a:latin typeface="Times New Roman" pitchFamily="18" charset="0"/>
                        <a:ea typeface="Calibri"/>
                        <a:cs typeface="Times New Roman" pitchFamily="18" charset="0"/>
                      </a:endParaRPr>
                    </a:p>
                  </a:txBody>
                  <a:tcPr marL="3024" marR="3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latin typeface="Times New Roman" pitchFamily="18" charset="0"/>
                          <a:ea typeface="Calibri"/>
                          <a:cs typeface="Times New Roman" pitchFamily="18" charset="0"/>
                        </a:rPr>
                        <a:t>Title of the paper</a:t>
                      </a:r>
                      <a:endParaRPr lang="en-US" sz="1200" dirty="0">
                        <a:latin typeface="Times New Roman" pitchFamily="18" charset="0"/>
                        <a:ea typeface="Calibri"/>
                        <a:cs typeface="Times New Roman" pitchFamily="18" charset="0"/>
                      </a:endParaRPr>
                    </a:p>
                  </a:txBody>
                  <a:tcPr marL="3024" marR="3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latin typeface="Times New Roman" pitchFamily="18" charset="0"/>
                          <a:ea typeface="Calibri"/>
                          <a:cs typeface="Times New Roman" pitchFamily="18" charset="0"/>
                        </a:rPr>
                        <a:t>Publisher / Journal</a:t>
                      </a:r>
                      <a:endParaRPr lang="en-US" sz="1200" dirty="0">
                        <a:latin typeface="Times New Roman" pitchFamily="18" charset="0"/>
                        <a:ea typeface="Calibri"/>
                        <a:cs typeface="Times New Roman" pitchFamily="18" charset="0"/>
                      </a:endParaRPr>
                    </a:p>
                  </a:txBody>
                  <a:tcPr marL="3024" marR="3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latin typeface="Times New Roman" pitchFamily="18" charset="0"/>
                          <a:ea typeface="Calibri"/>
                          <a:cs typeface="Times New Roman" pitchFamily="18" charset="0"/>
                        </a:rPr>
                        <a:t>Findings and Relevance</a:t>
                      </a:r>
                      <a:endParaRPr lang="en-US" sz="1200" dirty="0">
                        <a:latin typeface="Times New Roman" pitchFamily="18" charset="0"/>
                        <a:ea typeface="Calibri"/>
                        <a:cs typeface="Times New Roman" pitchFamily="18" charset="0"/>
                      </a:endParaRPr>
                    </a:p>
                  </a:txBody>
                  <a:tcPr marL="3024" marR="3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latin typeface="Times New Roman" pitchFamily="18" charset="0"/>
                          <a:ea typeface="Calibri"/>
                          <a:cs typeface="Times New Roman" pitchFamily="18" charset="0"/>
                        </a:rPr>
                        <a:t>Methodology / Techniques Used</a:t>
                      </a:r>
                      <a:endParaRPr lang="en-US" sz="1200" dirty="0">
                        <a:latin typeface="Times New Roman" pitchFamily="18" charset="0"/>
                        <a:ea typeface="Calibri"/>
                        <a:cs typeface="Times New Roman" pitchFamily="18" charset="0"/>
                      </a:endParaRPr>
                    </a:p>
                  </a:txBody>
                  <a:tcPr marL="3024" marR="3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latin typeface="Times New Roman" pitchFamily="18" charset="0"/>
                          <a:ea typeface="Calibri"/>
                          <a:cs typeface="Times New Roman" pitchFamily="18" charset="0"/>
                        </a:rPr>
                        <a:t>Remarks/Future</a:t>
                      </a:r>
                      <a:r>
                        <a:rPr lang="en-US" sz="1200" b="1" baseline="0" dirty="0">
                          <a:latin typeface="Times New Roman" pitchFamily="18" charset="0"/>
                          <a:ea typeface="Calibri"/>
                          <a:cs typeface="Times New Roman" pitchFamily="18" charset="0"/>
                        </a:rPr>
                        <a:t> scope</a:t>
                      </a:r>
                      <a:endParaRPr lang="en-US" sz="1200" dirty="0">
                        <a:latin typeface="Times New Roman" pitchFamily="18" charset="0"/>
                        <a:ea typeface="Calibri"/>
                        <a:cs typeface="Times New Roman" pitchFamily="18" charset="0"/>
                      </a:endParaRPr>
                    </a:p>
                  </a:txBody>
                  <a:tcPr marL="3024" marR="302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443354">
                <a:tc>
                  <a:txBody>
                    <a:bodyPr/>
                    <a:lstStyle/>
                    <a:p>
                      <a:pPr marL="0" marR="0" algn="ctr">
                        <a:lnSpc>
                          <a:spcPct val="115000"/>
                        </a:lnSpc>
                        <a:spcBef>
                          <a:spcPts val="0"/>
                        </a:spcBef>
                        <a:spcAft>
                          <a:spcPts val="0"/>
                        </a:spcAft>
                      </a:pPr>
                      <a:r>
                        <a:rPr lang="en-US" sz="900" dirty="0">
                          <a:latin typeface="+mn-lt"/>
                          <a:ea typeface="Calibri"/>
                          <a:cs typeface="Times New Roman"/>
                        </a:rPr>
                        <a:t>1.</a:t>
                      </a: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dirty="0"/>
                        <a:t>Xiongbin Peng</a:t>
                      </a:r>
                    </a:p>
                    <a:p>
                      <a:pPr marL="0" marR="0" algn="just">
                        <a:lnSpc>
                          <a:spcPct val="115000"/>
                        </a:lnSpc>
                        <a:spcBef>
                          <a:spcPts val="0"/>
                        </a:spcBef>
                        <a:spcAft>
                          <a:spcPts val="0"/>
                        </a:spcAft>
                      </a:pPr>
                      <a:r>
                        <a:rPr lang="en-IN" sz="1400" dirty="0"/>
                        <a:t>Akhil Garg</a:t>
                      </a:r>
                    </a:p>
                    <a:p>
                      <a:pPr marL="0" marR="0" algn="just">
                        <a:lnSpc>
                          <a:spcPct val="115000"/>
                        </a:lnSpc>
                        <a:spcBef>
                          <a:spcPts val="0"/>
                        </a:spcBef>
                        <a:spcAft>
                          <a:spcPts val="0"/>
                        </a:spcAft>
                      </a:pPr>
                      <a:r>
                        <a:rPr lang="en-IN" sz="1400" dirty="0"/>
                        <a:t>Jian Zhang</a:t>
                      </a:r>
                      <a:endParaRPr lang="en-US" sz="1400" dirty="0">
                        <a:latin typeface="Times New Roman" panose="02020603050405020304" pitchFamily="18" charset="0"/>
                        <a:ea typeface="Calibri"/>
                        <a:cs typeface="Times New Roman" panose="02020603050405020304" pitchFamily="18" charset="0"/>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a:latin typeface="Times New Roman" panose="02020603050405020304" pitchFamily="18" charset="0"/>
                          <a:cs typeface="Times New Roman" panose="02020603050405020304" pitchFamily="18" charset="0"/>
                        </a:rPr>
                        <a:t>Thermal Management System Design for Batteries Packs of Electric Vehicles: A Survey</a:t>
                      </a:r>
                      <a:endParaRPr lang="en-US" sz="1200" dirty="0">
                        <a:latin typeface="Times New Roman" panose="02020603050405020304" pitchFamily="18" charset="0"/>
                        <a:ea typeface="Calibri"/>
                        <a:cs typeface="Times New Roman" panose="02020603050405020304" pitchFamily="18" charset="0"/>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100" b="1" dirty="0">
                          <a:latin typeface="Times New Roman" panose="02020603050405020304" pitchFamily="18" charset="0"/>
                          <a:cs typeface="Times New Roman" panose="02020603050405020304" pitchFamily="18" charset="0"/>
                        </a:rPr>
                        <a:t>Published by:</a:t>
                      </a:r>
                      <a:r>
                        <a:rPr lang="en-US" sz="1100" dirty="0">
                          <a:latin typeface="Times New Roman" panose="02020603050405020304" pitchFamily="18" charset="0"/>
                          <a:cs typeface="Times New Roman" panose="02020603050405020304" pitchFamily="18" charset="0"/>
                        </a:rPr>
                        <a:t> </a:t>
                      </a:r>
                      <a:r>
                        <a:rPr lang="en-US" sz="1100" i="1" dirty="0">
                          <a:latin typeface="Times New Roman" panose="02020603050405020304" pitchFamily="18" charset="0"/>
                          <a:cs typeface="Times New Roman" panose="02020603050405020304" pitchFamily="18" charset="0"/>
                        </a:rPr>
                        <a:t>IEEE (Institute of Electrical and Electronics Engineers</a:t>
                      </a:r>
                      <a:r>
                        <a:rPr lang="en-US" sz="900" i="1" dirty="0"/>
                        <a:t>)</a:t>
                      </a:r>
                      <a:endParaRPr lang="en-US" sz="900" dirty="0">
                        <a:latin typeface="+mn-lt"/>
                        <a:ea typeface="Calibri"/>
                        <a:cs typeface="Times New Roman"/>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100" dirty="0">
                          <a:latin typeface="Times New Roman" panose="02020603050405020304" pitchFamily="18" charset="0"/>
                          <a:cs typeface="Times New Roman" panose="02020603050405020304" pitchFamily="18" charset="0"/>
                        </a:rPr>
                        <a:t>The paper conducts a </a:t>
                      </a:r>
                      <a:r>
                        <a:rPr lang="en-US" sz="1100" b="1" dirty="0">
                          <a:latin typeface="Times New Roman" panose="02020603050405020304" pitchFamily="18" charset="0"/>
                          <a:cs typeface="Times New Roman" panose="02020603050405020304" pitchFamily="18" charset="0"/>
                        </a:rPr>
                        <a:t>comprehensive survey</a:t>
                      </a:r>
                      <a:r>
                        <a:rPr lang="en-US" sz="1100" dirty="0">
                          <a:latin typeface="Times New Roman" panose="02020603050405020304" pitchFamily="18" charset="0"/>
                          <a:cs typeface="Times New Roman" panose="02020603050405020304" pitchFamily="18" charset="0"/>
                        </a:rPr>
                        <a:t> of existing </a:t>
                      </a:r>
                      <a:r>
                        <a:rPr lang="en-US" sz="1100" b="1" dirty="0">
                          <a:latin typeface="Times New Roman" panose="02020603050405020304" pitchFamily="18" charset="0"/>
                          <a:cs typeface="Times New Roman" panose="02020603050405020304" pitchFamily="18" charset="0"/>
                        </a:rPr>
                        <a:t>thermal management systems (TMS)</a:t>
                      </a:r>
                      <a:r>
                        <a:rPr lang="en-US" sz="1100" dirty="0">
                          <a:latin typeface="Times New Roman" panose="02020603050405020304" pitchFamily="18" charset="0"/>
                          <a:cs typeface="Times New Roman" panose="02020603050405020304" pitchFamily="18" charset="0"/>
                        </a:rPr>
                        <a:t> for </a:t>
                      </a:r>
                      <a:r>
                        <a:rPr lang="en-US" sz="1100" b="1" dirty="0">
                          <a:latin typeface="Times New Roman" panose="02020603050405020304" pitchFamily="18" charset="0"/>
                          <a:cs typeface="Times New Roman" panose="02020603050405020304" pitchFamily="18" charset="0"/>
                        </a:rPr>
                        <a:t>electric vehicle (EV) battery packs</a:t>
                      </a:r>
                      <a:r>
                        <a:rPr lang="en-US" sz="1100" dirty="0">
                          <a:latin typeface="Times New Roman" panose="02020603050405020304" pitchFamily="18" charset="0"/>
                          <a:cs typeface="Times New Roman" panose="02020603050405020304" pitchFamily="18" charset="0"/>
                        </a:rPr>
                        <a:t> and compares three main strategi</a:t>
                      </a:r>
                    </a:p>
                    <a:p>
                      <a:pPr marL="0" marR="0" algn="just">
                        <a:lnSpc>
                          <a:spcPct val="115000"/>
                        </a:lnSpc>
                        <a:spcBef>
                          <a:spcPts val="0"/>
                        </a:spcBef>
                        <a:spcAft>
                          <a:spcPts val="0"/>
                        </a:spcAft>
                      </a:pPr>
                      <a:r>
                        <a:rPr lang="en-US" sz="1100" u="none" dirty="0">
                          <a:solidFill>
                            <a:schemeClr val="tx1"/>
                          </a:solidFill>
                          <a:latin typeface="Times New Roman" panose="02020603050405020304" pitchFamily="18" charset="0"/>
                          <a:ea typeface="Calibri"/>
                          <a:cs typeface="Times New Roman" panose="02020603050405020304" pitchFamily="18" charset="0"/>
                        </a:rPr>
                        <a:t>1.Air cooling system</a:t>
                      </a:r>
                    </a:p>
                    <a:p>
                      <a:pPr marL="0" marR="0" algn="just">
                        <a:lnSpc>
                          <a:spcPct val="115000"/>
                        </a:lnSpc>
                        <a:spcBef>
                          <a:spcPts val="0"/>
                        </a:spcBef>
                        <a:spcAft>
                          <a:spcPts val="0"/>
                        </a:spcAft>
                      </a:pPr>
                      <a:r>
                        <a:rPr lang="en-US" sz="1100" u="none" dirty="0">
                          <a:solidFill>
                            <a:schemeClr val="tx1"/>
                          </a:solidFill>
                          <a:latin typeface="Times New Roman" panose="02020603050405020304" pitchFamily="18" charset="0"/>
                          <a:ea typeface="Calibri"/>
                          <a:cs typeface="Times New Roman" panose="02020603050405020304" pitchFamily="18" charset="0"/>
                        </a:rPr>
                        <a:t>2.Liquid cooling system</a:t>
                      </a: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Times New Roman" panose="02020603050405020304" pitchFamily="18" charset="0"/>
                          <a:cs typeface="Times New Roman" panose="02020603050405020304" pitchFamily="18" charset="0"/>
                        </a:rPr>
                        <a:t>Battery packs; Thermal Management; Active cooling; Temperature optimization</a:t>
                      </a:r>
                      <a:endParaRPr lang="en-US" sz="1400" dirty="0">
                        <a:latin typeface="Times New Roman" panose="02020603050405020304" pitchFamily="18" charset="0"/>
                        <a:ea typeface="Calibri"/>
                        <a:cs typeface="Times New Roman" panose="02020603050405020304" pitchFamily="18" charset="0"/>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900" dirty="0">
                          <a:latin typeface="+mn-lt"/>
                          <a:ea typeface="Calibri"/>
                          <a:cs typeface="Times New Roman"/>
                        </a:rPr>
                        <a:t>1.</a:t>
                      </a:r>
                      <a:r>
                        <a:rPr lang="en-US" sz="1000" dirty="0">
                          <a:latin typeface="Times New Roman" panose="02020603050405020304" pitchFamily="18" charset="0"/>
                          <a:cs typeface="Times New Roman" panose="02020603050405020304" pitchFamily="18" charset="0"/>
                        </a:rPr>
                        <a:t>Multi-objective Optimization of Battery Pack Variables</a:t>
                      </a:r>
                    </a:p>
                    <a:p>
                      <a:pPr marL="0" marR="0" algn="just">
                        <a:lnSpc>
                          <a:spcPct val="115000"/>
                        </a:lnSpc>
                        <a:spcBef>
                          <a:spcPts val="0"/>
                        </a:spcBef>
                        <a:spcAft>
                          <a:spcPts val="0"/>
                        </a:spcAft>
                      </a:pPr>
                      <a:r>
                        <a:rPr lang="en-US" sz="1000" dirty="0">
                          <a:latin typeface="Times New Roman" panose="02020603050405020304" pitchFamily="18" charset="0"/>
                          <a:ea typeface="Calibri"/>
                          <a:cs typeface="Times New Roman" panose="02020603050405020304" pitchFamily="18" charset="0"/>
                        </a:rPr>
                        <a:t>2.</a:t>
                      </a:r>
                      <a:r>
                        <a:rPr lang="en-US" sz="1000" dirty="0">
                          <a:latin typeface="Times New Roman" panose="02020603050405020304" pitchFamily="18" charset="0"/>
                          <a:cs typeface="Times New Roman" panose="02020603050405020304" pitchFamily="18" charset="0"/>
                        </a:rPr>
                        <a:t> Battery Cell Uniformity and Equalization</a:t>
                      </a:r>
                      <a:endParaRPr lang="en-US" sz="1000" dirty="0">
                        <a:latin typeface="Times New Roman" panose="02020603050405020304" pitchFamily="18" charset="0"/>
                        <a:ea typeface="Calibri"/>
                        <a:cs typeface="Times New Roman" panose="02020603050405020304" pitchFamily="18" charset="0"/>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85523">
                <a:tc>
                  <a:txBody>
                    <a:bodyPr/>
                    <a:lstStyle/>
                    <a:p>
                      <a:pPr marL="0" marR="0" algn="ctr">
                        <a:lnSpc>
                          <a:spcPct val="115000"/>
                        </a:lnSpc>
                        <a:spcBef>
                          <a:spcPts val="0"/>
                        </a:spcBef>
                        <a:spcAft>
                          <a:spcPts val="0"/>
                        </a:spcAft>
                      </a:pPr>
                      <a:r>
                        <a:rPr lang="en-US" sz="900" dirty="0">
                          <a:solidFill>
                            <a:schemeClr val="tx1"/>
                          </a:solidFill>
                          <a:latin typeface="+mn-lt"/>
                          <a:ea typeface="Calibri"/>
                          <a:cs typeface="Times New Roman"/>
                        </a:rPr>
                        <a:t>2.</a:t>
                      </a: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Niranjan </a:t>
                      </a:r>
                      <a:r>
                        <a:rPr lang="en-IN" sz="1400" dirty="0" err="1">
                          <a:latin typeface="Times New Roman" panose="02020603050405020304" pitchFamily="18" charset="0"/>
                          <a:cs typeface="Times New Roman" panose="02020603050405020304" pitchFamily="18" charset="0"/>
                        </a:rPr>
                        <a:t>Tarle</a:t>
                      </a:r>
                      <a:endParaRPr lang="en-IN" sz="1400" dirty="0">
                        <a:latin typeface="Times New Roman" panose="02020603050405020304" pitchFamily="18" charset="0"/>
                        <a:cs typeface="Times New Roman" panose="02020603050405020304" pitchFamily="18" charset="0"/>
                      </a:endParaRPr>
                    </a:p>
                    <a:p>
                      <a:pPr marL="0" marR="0" algn="just">
                        <a:lnSpc>
                          <a:spcPct val="115000"/>
                        </a:lnSpc>
                        <a:spcBef>
                          <a:spcPts val="0"/>
                        </a:spcBef>
                        <a:spcAft>
                          <a:spcPts val="0"/>
                        </a:spcAft>
                      </a:pPr>
                      <a:r>
                        <a:rPr lang="en-IN" sz="1400" dirty="0">
                          <a:latin typeface="Times New Roman" panose="02020603050405020304" pitchFamily="18" charset="0"/>
                          <a:cs typeface="Times New Roman" panose="02020603050405020304" pitchFamily="18" charset="0"/>
                        </a:rPr>
                        <a:t>Rishikesh Kulkarni </a:t>
                      </a:r>
                    </a:p>
                    <a:p>
                      <a:pPr marL="0" marR="0" algn="just">
                        <a:lnSpc>
                          <a:spcPct val="115000"/>
                        </a:lnSpc>
                        <a:spcBef>
                          <a:spcPts val="0"/>
                        </a:spcBef>
                        <a:spcAft>
                          <a:spcPts val="0"/>
                        </a:spcAft>
                      </a:pPr>
                      <a:r>
                        <a:rPr lang="en-IN" sz="1400" dirty="0"/>
                        <a:t>Nainesh </a:t>
                      </a:r>
                      <a:r>
                        <a:rPr lang="en-IN" sz="1400" dirty="0" err="1"/>
                        <a:t>Desale</a:t>
                      </a:r>
                      <a:r>
                        <a:rPr lang="en-IN" sz="1400" dirty="0"/>
                        <a:t> </a:t>
                      </a:r>
                      <a:endParaRPr lang="en-US" sz="1400" dirty="0">
                        <a:latin typeface="Times New Roman" panose="02020603050405020304" pitchFamily="18" charset="0"/>
                        <a:ea typeface="Calibri"/>
                        <a:cs typeface="Times New Roman" panose="02020603050405020304" pitchFamily="18" charset="0"/>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Times New Roman" panose="02020603050405020304" pitchFamily="18" charset="0"/>
                          <a:cs typeface="Times New Roman" panose="02020603050405020304" pitchFamily="18" charset="0"/>
                        </a:rPr>
                        <a:t>Design of a Battery Management System for Formula Student Electric Race Vehicle</a:t>
                      </a:r>
                      <a:endParaRPr lang="en-US" sz="1400" dirty="0">
                        <a:latin typeface="Times New Roman" panose="02020603050405020304" pitchFamily="18" charset="0"/>
                        <a:ea typeface="Calibri"/>
                        <a:cs typeface="Times New Roman" panose="02020603050405020304" pitchFamily="18" charset="0"/>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a:latin typeface="Times New Roman" panose="02020603050405020304" pitchFamily="18" charset="0"/>
                          <a:cs typeface="Times New Roman" panose="02020603050405020304" pitchFamily="18" charset="0"/>
                        </a:rPr>
                        <a:t>Institute of Electrical and Electronics Engineers (IEEE</a:t>
                      </a:r>
                      <a:endParaRPr lang="en-US" sz="1200" dirty="0">
                        <a:latin typeface="Times New Roman" panose="02020603050405020304" pitchFamily="18" charset="0"/>
                        <a:ea typeface="Calibri"/>
                        <a:cs typeface="Times New Roman" panose="02020603050405020304" pitchFamily="18" charset="0"/>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000" b="1" dirty="0">
                          <a:latin typeface="Times New Roman" panose="02020603050405020304" pitchFamily="18" charset="0"/>
                          <a:cs typeface="Times New Roman" panose="02020603050405020304" pitchFamily="18" charset="0"/>
                        </a:rPr>
                        <a:t>design and implementation of a Battery Management System (BMS)</a:t>
                      </a:r>
                      <a:r>
                        <a:rPr lang="en-US" sz="1000" dirty="0">
                          <a:latin typeface="Times New Roman" panose="02020603050405020304" pitchFamily="18" charset="0"/>
                          <a:cs typeface="Times New Roman" panose="02020603050405020304" pitchFamily="18" charset="0"/>
                        </a:rPr>
                        <a:t> for a </a:t>
                      </a:r>
                      <a:r>
                        <a:rPr lang="en-US" sz="1000" b="1" dirty="0">
                          <a:latin typeface="Times New Roman" panose="02020603050405020304" pitchFamily="18" charset="0"/>
                          <a:cs typeface="Times New Roman" panose="02020603050405020304" pitchFamily="18" charset="0"/>
                        </a:rPr>
                        <a:t>Formula Student Electric Vehicle (EV)</a:t>
                      </a:r>
                    </a:p>
                    <a:p>
                      <a:pPr marL="228600" marR="0" indent="-228600" algn="just">
                        <a:lnSpc>
                          <a:spcPct val="115000"/>
                        </a:lnSpc>
                        <a:spcBef>
                          <a:spcPts val="0"/>
                        </a:spcBef>
                        <a:spcAft>
                          <a:spcPts val="0"/>
                        </a:spcAft>
                        <a:buAutoNum type="arabicPeriod"/>
                      </a:pPr>
                      <a:r>
                        <a:rPr lang="en-IN" sz="1100" dirty="0">
                          <a:latin typeface="Times New Roman" panose="02020603050405020304" pitchFamily="18" charset="0"/>
                          <a:cs typeface="Times New Roman" panose="02020603050405020304" pitchFamily="18" charset="0"/>
                        </a:rPr>
                        <a:t>Battery Pack Configuration:</a:t>
                      </a:r>
                      <a:endParaRPr lang="en-US" sz="1100" u="none" dirty="0">
                        <a:solidFill>
                          <a:schemeClr val="tx1"/>
                        </a:solidFill>
                        <a:latin typeface="Times New Roman" panose="02020603050405020304" pitchFamily="18" charset="0"/>
                        <a:ea typeface="Calibri"/>
                        <a:cs typeface="Times New Roman" panose="02020603050405020304" pitchFamily="18" charset="0"/>
                      </a:endParaRPr>
                    </a:p>
                    <a:p>
                      <a:pPr marL="228600" marR="0" indent="-228600" algn="just">
                        <a:lnSpc>
                          <a:spcPct val="115000"/>
                        </a:lnSpc>
                        <a:spcBef>
                          <a:spcPts val="0"/>
                        </a:spcBef>
                        <a:spcAft>
                          <a:spcPts val="0"/>
                        </a:spcAft>
                        <a:buAutoNum type="arabicPeriod"/>
                      </a:pPr>
                      <a:r>
                        <a:rPr lang="en-IN" sz="1100" dirty="0">
                          <a:latin typeface="Times New Roman" panose="02020603050405020304" pitchFamily="18" charset="0"/>
                          <a:cs typeface="Times New Roman" panose="02020603050405020304" pitchFamily="18" charset="0"/>
                        </a:rPr>
                        <a:t>BMS Core Components:</a:t>
                      </a:r>
                    </a:p>
                    <a:p>
                      <a:pPr marL="228600" marR="0" indent="-228600" algn="just">
                        <a:lnSpc>
                          <a:spcPct val="115000"/>
                        </a:lnSpc>
                        <a:spcBef>
                          <a:spcPts val="0"/>
                        </a:spcBef>
                        <a:spcAft>
                          <a:spcPts val="0"/>
                        </a:spcAft>
                        <a:buAutoNum type="arabicPeriod"/>
                      </a:pPr>
                      <a:r>
                        <a:rPr lang="en-IN" sz="1100" dirty="0">
                          <a:latin typeface="Times New Roman" panose="02020603050405020304" pitchFamily="18" charset="0"/>
                          <a:cs typeface="Times New Roman" panose="02020603050405020304" pitchFamily="18" charset="0"/>
                        </a:rPr>
                        <a:t>Measurement &amp; Protection</a:t>
                      </a:r>
                      <a:r>
                        <a:rPr lang="en-IN" sz="1000" dirty="0"/>
                        <a:t>:</a:t>
                      </a:r>
                    </a:p>
                    <a:p>
                      <a:pPr marL="228600" marR="0" indent="-228600" algn="just">
                        <a:lnSpc>
                          <a:spcPct val="115000"/>
                        </a:lnSpc>
                        <a:spcBef>
                          <a:spcPts val="0"/>
                        </a:spcBef>
                        <a:spcAft>
                          <a:spcPts val="0"/>
                        </a:spcAft>
                        <a:buAutoNum type="arabicPeriod"/>
                      </a:pPr>
                      <a:r>
                        <a:rPr lang="en-IN" sz="1050" dirty="0">
                          <a:latin typeface="Times New Roman" panose="02020603050405020304" pitchFamily="18" charset="0"/>
                          <a:cs typeface="Times New Roman" panose="02020603050405020304" pitchFamily="18" charset="0"/>
                        </a:rPr>
                        <a:t>PCB Design:</a:t>
                      </a:r>
                    </a:p>
                    <a:p>
                      <a:pPr marL="228600" marR="0" indent="-228600" algn="just">
                        <a:lnSpc>
                          <a:spcPct val="115000"/>
                        </a:lnSpc>
                        <a:spcBef>
                          <a:spcPts val="0"/>
                        </a:spcBef>
                        <a:spcAft>
                          <a:spcPts val="0"/>
                        </a:spcAft>
                        <a:buAutoNum type="arabicPeriod"/>
                      </a:pPr>
                      <a:r>
                        <a:rPr lang="en-IN" sz="1050" dirty="0">
                          <a:latin typeface="Times New Roman" panose="02020603050405020304" pitchFamily="18" charset="0"/>
                          <a:cs typeface="Times New Roman" panose="02020603050405020304" pitchFamily="18" charset="0"/>
                        </a:rPr>
                        <a:t>Communication &amp; Data Logging:</a:t>
                      </a: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Times New Roman" panose="02020603050405020304" pitchFamily="18" charset="0"/>
                          <a:cs typeface="Times New Roman" panose="02020603050405020304" pitchFamily="18" charset="0"/>
                        </a:rPr>
                        <a:t>Battery management system (BMS), Electric Vehicles (EV), Formula Student (FS), Batteries</a:t>
                      </a:r>
                      <a:r>
                        <a:rPr lang="en-US" sz="900" dirty="0"/>
                        <a:t>. </a:t>
                      </a:r>
                      <a:endParaRPr lang="en-US" sz="900" dirty="0">
                        <a:latin typeface="+mn-lt"/>
                        <a:ea typeface="Calibri"/>
                        <a:cs typeface="Times New Roman"/>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1000" dirty="0">
                          <a:latin typeface="Times New Roman" panose="02020603050405020304" pitchFamily="18" charset="0"/>
                          <a:cs typeface="Times New Roman" panose="02020603050405020304" pitchFamily="18" charset="0"/>
                        </a:rPr>
                        <a:t>The authors identify several potential areas for improvement and future research:</a:t>
                      </a:r>
                    </a:p>
                    <a:p>
                      <a:pPr algn="just"/>
                      <a:r>
                        <a:rPr lang="en-US" sz="1000" b="1" dirty="0">
                          <a:latin typeface="Times New Roman" panose="02020603050405020304" pitchFamily="18" charset="0"/>
                          <a:cs typeface="Times New Roman" panose="02020603050405020304" pitchFamily="18" charset="0"/>
                        </a:rPr>
                        <a:t>Enhanced Reliability Testing:</a:t>
                      </a:r>
                    </a:p>
                    <a:p>
                      <a:pPr algn="just"/>
                      <a:r>
                        <a:rPr lang="en-IN" sz="1050" dirty="0">
                          <a:latin typeface="Times New Roman" panose="02020603050405020304" pitchFamily="18" charset="0"/>
                          <a:cs typeface="Times New Roman" panose="02020603050405020304" pitchFamily="18" charset="0"/>
                        </a:rPr>
                        <a:t>Integration with Advanced Algorithms:</a:t>
                      </a:r>
                      <a:endParaRPr lang="en-US" sz="1050" dirty="0">
                        <a:latin typeface="Times New Roman" panose="02020603050405020304" pitchFamily="18" charset="0"/>
                        <a:cs typeface="Times New Roman" panose="02020603050405020304" pitchFamily="18" charset="0"/>
                      </a:endParaRPr>
                    </a:p>
                    <a:p>
                      <a:pPr marL="0" marR="0" algn="just">
                        <a:lnSpc>
                          <a:spcPct val="115000"/>
                        </a:lnSpc>
                        <a:spcBef>
                          <a:spcPts val="0"/>
                        </a:spcBef>
                        <a:spcAft>
                          <a:spcPts val="0"/>
                        </a:spcAft>
                      </a:pPr>
                      <a:endParaRPr lang="en-US" sz="900" dirty="0">
                        <a:latin typeface="+mn-lt"/>
                        <a:ea typeface="Calibri"/>
                        <a:cs typeface="Times New Roman"/>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13359">
                <a:tc>
                  <a:txBody>
                    <a:bodyPr/>
                    <a:lstStyle/>
                    <a:p>
                      <a:pPr marL="0" marR="0" algn="ctr">
                        <a:lnSpc>
                          <a:spcPct val="115000"/>
                        </a:lnSpc>
                        <a:spcBef>
                          <a:spcPts val="0"/>
                        </a:spcBef>
                        <a:spcAft>
                          <a:spcPts val="0"/>
                        </a:spcAft>
                      </a:pPr>
                      <a:r>
                        <a:rPr lang="en-US" sz="900" dirty="0">
                          <a:latin typeface="+mn-lt"/>
                          <a:ea typeface="Calibri"/>
                          <a:cs typeface="Times New Roman"/>
                        </a:rPr>
                        <a:t>3.</a:t>
                      </a: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Times New Roman" panose="02020603050405020304" pitchFamily="18" charset="0"/>
                          <a:ea typeface="Calibri"/>
                          <a:cs typeface="Times New Roman" panose="02020603050405020304" pitchFamily="18" charset="0"/>
                        </a:rPr>
                        <a:t>Haifei Long</a:t>
                      </a:r>
                    </a:p>
                    <a:p>
                      <a:pPr marL="0" marR="0" algn="just">
                        <a:lnSpc>
                          <a:spcPct val="115000"/>
                        </a:lnSpc>
                        <a:spcBef>
                          <a:spcPts val="0"/>
                        </a:spcBef>
                        <a:spcAft>
                          <a:spcPts val="0"/>
                        </a:spcAft>
                      </a:pPr>
                      <a:r>
                        <a:rPr lang="en-US" sz="1400" dirty="0" err="1">
                          <a:latin typeface="Times New Roman" panose="02020603050405020304" pitchFamily="18" charset="0"/>
                          <a:ea typeface="Calibri"/>
                          <a:cs typeface="Times New Roman" panose="02020603050405020304" pitchFamily="18" charset="0"/>
                        </a:rPr>
                        <a:t>Zhigun</a:t>
                      </a:r>
                      <a:r>
                        <a:rPr lang="en-US" sz="1400" dirty="0">
                          <a:latin typeface="Times New Roman" panose="02020603050405020304" pitchFamily="18" charset="0"/>
                          <a:ea typeface="Calibri"/>
                          <a:cs typeface="Times New Roman" panose="02020603050405020304" pitchFamily="18" charset="0"/>
                        </a:rPr>
                        <a:t> Chen</a:t>
                      </a: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en-US" sz="1400" dirty="0">
                          <a:latin typeface="Times New Roman" panose="02020603050405020304" pitchFamily="18" charset="0"/>
                          <a:ea typeface="Calibri"/>
                          <a:cs typeface="Times New Roman" panose="02020603050405020304" pitchFamily="18" charset="0"/>
                        </a:rPr>
                        <a:t>Thermal management system design pure electric racing car power battery </a:t>
                      </a:r>
                    </a:p>
                    <a:p>
                      <a:pPr marL="0" marR="0" algn="just">
                        <a:lnSpc>
                          <a:spcPct val="115000"/>
                        </a:lnSpc>
                        <a:spcBef>
                          <a:spcPts val="0"/>
                        </a:spcBef>
                        <a:spcAft>
                          <a:spcPts val="0"/>
                        </a:spcAft>
                      </a:pPr>
                      <a:endParaRPr lang="en-US" sz="900" dirty="0">
                        <a:latin typeface="+mn-lt"/>
                        <a:ea typeface="Calibri"/>
                        <a:cs typeface="Times New Roman"/>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000" dirty="0">
                          <a:latin typeface="Times New Roman" panose="02020603050405020304" pitchFamily="18" charset="0"/>
                          <a:ea typeface="Calibri"/>
                          <a:cs typeface="Times New Roman" panose="02020603050405020304" pitchFamily="18" charset="0"/>
                        </a:rPr>
                        <a:t>IEEE (Institute of Electrical and Electronics Engineers)Published in 2017 at the ACEPT.</a:t>
                      </a: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en-US" sz="900" b="1" dirty="0"/>
                        <a:t>1.</a:t>
                      </a:r>
                      <a:r>
                        <a:rPr lang="en-US" sz="1200" b="0" dirty="0">
                          <a:latin typeface="Times New Roman" panose="02020603050405020304" pitchFamily="18" charset="0"/>
                          <a:cs typeface="Times New Roman" panose="02020603050405020304" pitchFamily="18" charset="0"/>
                        </a:rPr>
                        <a:t>Optimized Liquid Cooling System Design</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200" b="0" dirty="0">
                          <a:latin typeface="Times New Roman" panose="02020603050405020304" pitchFamily="18" charset="0"/>
                          <a:cs typeface="Times New Roman" panose="02020603050405020304" pitchFamily="18" charset="0"/>
                        </a:rPr>
                        <a:t>2.</a:t>
                      </a:r>
                      <a:r>
                        <a:rPr lang="en-IN" sz="1200" dirty="0"/>
                        <a:t> </a:t>
                      </a:r>
                      <a:r>
                        <a:rPr lang="en-IN" sz="1200" dirty="0">
                          <a:latin typeface="Times New Roman" panose="02020603050405020304" pitchFamily="18" charset="0"/>
                          <a:cs typeface="Times New Roman" panose="02020603050405020304" pitchFamily="18" charset="0"/>
                        </a:rPr>
                        <a:t>Enhanced Thermal Uniformity</a:t>
                      </a:r>
                    </a:p>
                    <a:p>
                      <a:pPr marL="0" marR="0" lvl="0" indent="0" algn="just" defTabSz="914400" rtl="0" eaLnBrk="1" fontAlgn="auto" latinLnBrk="0" hangingPunct="1">
                        <a:lnSpc>
                          <a:spcPct val="115000"/>
                        </a:lnSpc>
                        <a:spcBef>
                          <a:spcPts val="0"/>
                        </a:spcBef>
                        <a:spcAft>
                          <a:spcPts val="0"/>
                        </a:spcAft>
                        <a:buClrTx/>
                        <a:buSzTx/>
                        <a:buFontTx/>
                        <a:buNone/>
                        <a:tabLst/>
                        <a:defRPr/>
                      </a:pPr>
                      <a:r>
                        <a:rPr lang="en-IN" sz="1200" b="0" dirty="0">
                          <a:latin typeface="Times New Roman" panose="02020603050405020304" pitchFamily="18" charset="0"/>
                          <a:cs typeface="Times New Roman" panose="02020603050405020304" pitchFamily="18" charset="0"/>
                        </a:rPr>
                        <a:t>3.</a:t>
                      </a:r>
                      <a:r>
                        <a:rPr lang="en-US" sz="1200" dirty="0">
                          <a:latin typeface="Times New Roman" panose="02020603050405020304" pitchFamily="18" charset="0"/>
                          <a:cs typeface="Times New Roman" panose="02020603050405020304" pitchFamily="18" charset="0"/>
                        </a:rPr>
                        <a:t> High Efficiency During Fast Charging &amp; Discharging:</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200" b="0" dirty="0">
                          <a:latin typeface="Times New Roman" panose="02020603050405020304" pitchFamily="18" charset="0"/>
                          <a:cs typeface="Times New Roman" panose="02020603050405020304" pitchFamily="18" charset="0"/>
                        </a:rPr>
                        <a:t>4.</a:t>
                      </a:r>
                      <a:r>
                        <a:rPr lang="en-IN" sz="1200" dirty="0">
                          <a:latin typeface="Times New Roman" panose="02020603050405020304" pitchFamily="18" charset="0"/>
                          <a:cs typeface="Times New Roman" panose="02020603050405020304" pitchFamily="18" charset="0"/>
                        </a:rPr>
                        <a:t> Simulation Validation:</a:t>
                      </a:r>
                      <a:endParaRPr lang="en-US" sz="1200" b="0" dirty="0">
                        <a:latin typeface="Times New Roman" panose="02020603050405020304" pitchFamily="18" charset="0"/>
                        <a:cs typeface="Times New Roman" panose="02020603050405020304" pitchFamily="18" charset="0"/>
                      </a:endParaRPr>
                    </a:p>
                    <a:p>
                      <a:pPr marL="0" marR="0" algn="just">
                        <a:lnSpc>
                          <a:spcPct val="115000"/>
                        </a:lnSpc>
                        <a:spcBef>
                          <a:spcPts val="0"/>
                        </a:spcBef>
                        <a:spcAft>
                          <a:spcPts val="0"/>
                        </a:spcAft>
                      </a:pPr>
                      <a:endParaRPr lang="en-US" sz="900" u="none" dirty="0">
                        <a:solidFill>
                          <a:schemeClr val="tx1"/>
                        </a:solidFill>
                        <a:latin typeface="+mn-lt"/>
                        <a:ea typeface="Calibri"/>
                        <a:cs typeface="Times New Roman"/>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Times New Roman" panose="02020603050405020304" pitchFamily="18" charset="0"/>
                          <a:ea typeface="Calibri"/>
                          <a:cs typeface="Times New Roman" panose="02020603050405020304" pitchFamily="18" charset="0"/>
                        </a:rPr>
                        <a:t>Phase change heat dissipation; pure electric racing car power.</a:t>
                      </a: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marR="0" indent="-228600" algn="just">
                        <a:lnSpc>
                          <a:spcPct val="115000"/>
                        </a:lnSpc>
                        <a:spcBef>
                          <a:spcPts val="0"/>
                        </a:spcBef>
                        <a:spcAft>
                          <a:spcPts val="0"/>
                        </a:spcAft>
                        <a:buAutoNum type="arabicPeriod"/>
                      </a:pPr>
                      <a:r>
                        <a:rPr lang="en-US" sz="1100" dirty="0">
                          <a:latin typeface="Times New Roman" panose="02020603050405020304" pitchFamily="18" charset="0"/>
                          <a:cs typeface="Times New Roman" panose="02020603050405020304" pitchFamily="18" charset="0"/>
                        </a:rPr>
                        <a:t>integration with Active Control Systems</a:t>
                      </a:r>
                    </a:p>
                    <a:p>
                      <a:pPr marL="228600" marR="0" indent="-228600" algn="just">
                        <a:lnSpc>
                          <a:spcPct val="115000"/>
                        </a:lnSpc>
                        <a:spcBef>
                          <a:spcPts val="0"/>
                        </a:spcBef>
                        <a:spcAft>
                          <a:spcPts val="0"/>
                        </a:spcAft>
                        <a:buAutoNum type="arabicPeriod"/>
                      </a:pPr>
                      <a:r>
                        <a:rPr lang="en-IN" sz="1100" dirty="0">
                          <a:latin typeface="Times New Roman" panose="02020603050405020304" pitchFamily="18" charset="0"/>
                          <a:cs typeface="Times New Roman" panose="02020603050405020304" pitchFamily="18" charset="0"/>
                        </a:rPr>
                        <a:t>Lightweight &amp; Compact Design</a:t>
                      </a:r>
                      <a:endParaRPr lang="en-US" sz="1100" dirty="0">
                        <a:latin typeface="Times New Roman" panose="02020603050405020304" pitchFamily="18" charset="0"/>
                        <a:ea typeface="Calibri"/>
                        <a:cs typeface="Times New Roman" panose="02020603050405020304" pitchFamily="18" charset="0"/>
                      </a:endParaRPr>
                    </a:p>
                  </a:txBody>
                  <a:tcPr marL="3024" marR="30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Slide Number Placeholder 2"/>
          <p:cNvSpPr>
            <a:spLocks noGrp="1"/>
          </p:cNvSpPr>
          <p:nvPr>
            <p:ph type="sldNum" sz="quarter" idx="12"/>
          </p:nvPr>
        </p:nvSpPr>
        <p:spPr/>
        <p:txBody>
          <a:bodyPr/>
          <a:lstStyle/>
          <a:p>
            <a:fld id="{974D6F18-1E43-4B37-903B-99F7EF8299C6}" type="slidenum">
              <a:rPr lang="en-US" smtClean="0"/>
              <a:pPr/>
              <a:t>5</a:t>
            </a:fld>
            <a:endParaRPr lang="en-US" dirty="0"/>
          </a:p>
        </p:txBody>
      </p:sp>
    </p:spTree>
    <p:extLst>
      <p:ext uri="{BB962C8B-B14F-4D97-AF65-F5344CB8AC3E}">
        <p14:creationId xmlns:p14="http://schemas.microsoft.com/office/powerpoint/2010/main" val="990478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60045"/>
            <a:ext cx="4694659" cy="573405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5" name="Picture 24">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10299"/>
          <a:stretch/>
        </p:blipFill>
        <p:spPr>
          <a:xfrm>
            <a:off x="-1" y="857250"/>
            <a:ext cx="9144001" cy="5734050"/>
          </a:xfrm>
          <a:prstGeom prst="rect">
            <a:avLst/>
          </a:prstGeom>
        </p:spPr>
      </p:pic>
      <p:sp>
        <p:nvSpPr>
          <p:cNvPr id="4" name="TextBox 3">
            <a:extLst>
              <a:ext uri="{FF2B5EF4-FFF2-40B4-BE49-F238E27FC236}">
                <a16:creationId xmlns:a16="http://schemas.microsoft.com/office/drawing/2014/main" id="{BB28A96E-93D3-577B-5465-242852D1B91E}"/>
              </a:ext>
            </a:extLst>
          </p:cNvPr>
          <p:cNvSpPr txBox="1"/>
          <p:nvPr/>
        </p:nvSpPr>
        <p:spPr>
          <a:xfrm>
            <a:off x="4605366" y="-24245"/>
            <a:ext cx="3988849" cy="1381125"/>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2400" b="1" kern="1200" dirty="0">
                <a:solidFill>
                  <a:srgbClr val="000000"/>
                </a:solidFill>
                <a:latin typeface="+mj-lt"/>
                <a:ea typeface="+mj-ea"/>
                <a:cs typeface="+mj-cs"/>
              </a:rPr>
              <a:t>Problem Statement</a:t>
            </a:r>
          </a:p>
        </p:txBody>
      </p:sp>
      <p:sp>
        <p:nvSpPr>
          <p:cNvPr id="27"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5" y="1468363"/>
            <a:ext cx="4180922" cy="4515805"/>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20" name="Graphic 19" descr="Empty Battery">
            <a:extLst>
              <a:ext uri="{FF2B5EF4-FFF2-40B4-BE49-F238E27FC236}">
                <a16:creationId xmlns:a16="http://schemas.microsoft.com/office/drawing/2014/main" id="{8551DA4B-D905-03AB-515D-EC60300745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9490" y="2079067"/>
            <a:ext cx="3026740" cy="3026740"/>
          </a:xfrm>
          <a:prstGeom prst="rect">
            <a:avLst/>
          </a:prstGeom>
        </p:spPr>
      </p:pic>
      <p:sp>
        <p:nvSpPr>
          <p:cNvPr id="30" name="TextBox 29">
            <a:extLst>
              <a:ext uri="{FF2B5EF4-FFF2-40B4-BE49-F238E27FC236}">
                <a16:creationId xmlns:a16="http://schemas.microsoft.com/office/drawing/2014/main" id="{496B6252-704C-7673-F105-615E5466A0E5}"/>
              </a:ext>
            </a:extLst>
          </p:cNvPr>
          <p:cNvSpPr txBox="1"/>
          <p:nvPr/>
        </p:nvSpPr>
        <p:spPr>
          <a:xfrm>
            <a:off x="4570579" y="1295400"/>
            <a:ext cx="4003614" cy="4579048"/>
          </a:xfrm>
          <a:prstGeom prst="rect">
            <a:avLst/>
          </a:prstGeom>
        </p:spPr>
        <p:txBody>
          <a:bodyPr vert="horz" lIns="91440" tIns="45720" rIns="91440" bIns="45720" rtlCol="0" anchor="ctr">
            <a:noAutofit/>
          </a:bodyPr>
          <a:lstStyle/>
          <a:p>
            <a:pPr marL="342900" indent="-228600" algn="just">
              <a:lnSpc>
                <a:spcPct val="90000"/>
              </a:lnSpc>
              <a:spcAft>
                <a:spcPts val="600"/>
              </a:spcAft>
              <a:buFont typeface="Arial" panose="020B0604020202020204" pitchFamily="34" charset="0"/>
              <a:buChar char="•"/>
            </a:pPr>
            <a:r>
              <a:rPr lang="en-US" b="1" dirty="0">
                <a:solidFill>
                  <a:srgbClr val="000000"/>
                </a:solidFill>
                <a:latin typeface="Times New Roman" panose="02020603050405020304" pitchFamily="18" charset="0"/>
                <a:cs typeface="Times New Roman" panose="02020603050405020304" pitchFamily="18" charset="0"/>
              </a:rPr>
              <a:t> </a:t>
            </a:r>
            <a:r>
              <a:rPr lang="en-US" sz="2000" b="0" dirty="0">
                <a:solidFill>
                  <a:srgbClr val="000000"/>
                </a:solidFill>
                <a:latin typeface="Times New Roman" panose="02020603050405020304" pitchFamily="18" charset="0"/>
                <a:cs typeface="Times New Roman" panose="02020603050405020304" pitchFamily="18" charset="0"/>
              </a:rPr>
              <a:t>EVs require efficient, safe, and high-performance battery packs,</a:t>
            </a:r>
          </a:p>
          <a:p>
            <a:pPr marL="342900" indent="-228600" algn="just">
              <a:lnSpc>
                <a:spcPct val="90000"/>
              </a:lnSpc>
              <a:spcAft>
                <a:spcPts val="600"/>
              </a:spcAft>
              <a:buFont typeface="Arial" panose="020B0604020202020204" pitchFamily="34" charset="0"/>
              <a:buChar char="•"/>
            </a:pPr>
            <a:r>
              <a:rPr lang="en-US" sz="2000" b="0" dirty="0">
                <a:solidFill>
                  <a:srgbClr val="000000"/>
                </a:solidFill>
                <a:latin typeface="Times New Roman" panose="02020603050405020304" pitchFamily="18" charset="0"/>
                <a:cs typeface="Times New Roman" panose="02020603050405020304" pitchFamily="18" charset="0"/>
              </a:rPr>
              <a:t>Challenges: cell selection, thermal management, safety, and performance evaluation,</a:t>
            </a:r>
          </a:p>
          <a:p>
            <a:pPr marL="342900" indent="-228600" algn="just">
              <a:lnSpc>
                <a:spcPct val="90000"/>
              </a:lnSpc>
              <a:spcAft>
                <a:spcPts val="600"/>
              </a:spcAf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The challenge is to design and develop a 72V lithium-based battery pack integrated with a Smart Battery Management System (BMS) that ensures optimal power delivery, efficient cell balancing, advanced fault detection, and thermal management.</a:t>
            </a:r>
          </a:p>
        </p:txBody>
      </p:sp>
      <p:sp>
        <p:nvSpPr>
          <p:cNvPr id="2" name="Slide Number Placeholder 1">
            <a:extLst>
              <a:ext uri="{FF2B5EF4-FFF2-40B4-BE49-F238E27FC236}">
                <a16:creationId xmlns:a16="http://schemas.microsoft.com/office/drawing/2014/main" id="{BFD9BAD4-6F3F-3A65-B0AF-ED22FC3930BC}"/>
              </a:ext>
            </a:extLst>
          </p:cNvPr>
          <p:cNvSpPr>
            <a:spLocks noGrp="1"/>
          </p:cNvSpPr>
          <p:nvPr>
            <p:ph type="sldNum" sz="quarter" idx="12"/>
          </p:nvPr>
        </p:nvSpPr>
        <p:spPr>
          <a:xfrm>
            <a:off x="8267450" y="6372752"/>
            <a:ext cx="428046" cy="235550"/>
          </a:xfrm>
        </p:spPr>
        <p:txBody>
          <a:bodyPr vert="horz" lIns="91440" tIns="45720" rIns="91440" bIns="45720" rtlCol="0" anchor="ctr">
            <a:normAutofit/>
          </a:bodyPr>
          <a:lstStyle/>
          <a:p>
            <a:pPr>
              <a:spcAft>
                <a:spcPts val="600"/>
              </a:spcAft>
              <a:defRPr/>
            </a:pPr>
            <a:fld id="{974D6F18-1E43-4B37-903B-99F7EF8299C6}" type="slidenum">
              <a:rPr lang="en-US" sz="825">
                <a:solidFill>
                  <a:srgbClr val="898989"/>
                </a:solidFill>
              </a:rPr>
              <a:pPr>
                <a:spcAft>
                  <a:spcPts val="600"/>
                </a:spcAft>
                <a:defRPr/>
              </a:pPr>
              <a:t>6</a:t>
            </a:fld>
            <a:endParaRPr lang="en-US" sz="825">
              <a:solidFill>
                <a:srgbClr val="898989"/>
              </a:solidFill>
            </a:endParaRPr>
          </a:p>
        </p:txBody>
      </p:sp>
    </p:spTree>
    <p:extLst>
      <p:ext uri="{BB962C8B-B14F-4D97-AF65-F5344CB8AC3E}">
        <p14:creationId xmlns:p14="http://schemas.microsoft.com/office/powerpoint/2010/main" val="3496072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B20BE8-5744-8493-CA40-BF02ED24DBA4}"/>
              </a:ext>
            </a:extLst>
          </p:cNvPr>
          <p:cNvSpPr>
            <a:spLocks noGrp="1"/>
          </p:cNvSpPr>
          <p:nvPr>
            <p:ph type="title"/>
          </p:nvPr>
        </p:nvSpPr>
        <p:spPr>
          <a:xfrm>
            <a:off x="6950931" y="2023110"/>
            <a:ext cx="1852218" cy="2846070"/>
          </a:xfrm>
        </p:spPr>
        <p:txBody>
          <a:bodyPr vert="horz" lIns="91440" tIns="45720" rIns="91440" bIns="45720" rtlCol="0" anchor="ctr">
            <a:normAutofit/>
          </a:bodyPr>
          <a:lstStyle/>
          <a:p>
            <a:pPr>
              <a:lnSpc>
                <a:spcPct val="90000"/>
              </a:lnSpc>
            </a:pPr>
            <a:r>
              <a:rPr lang="en-US" sz="3200" kern="1200" dirty="0">
                <a:solidFill>
                  <a:schemeClr val="tx1"/>
                </a:solidFill>
                <a:latin typeface="+mj-lt"/>
                <a:ea typeface="+mj-ea"/>
                <a:cs typeface="+mj-cs"/>
              </a:rPr>
              <a:t>Block Diagram</a:t>
            </a:r>
          </a:p>
        </p:txBody>
      </p:sp>
      <p:sp>
        <p:nvSpPr>
          <p:cNvPr id="17" name="Rectangle 1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361045" y="245695"/>
            <a:ext cx="1715478" cy="643756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6563" y="664308"/>
            <a:ext cx="6061974"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270FEE8-CD8C-83E2-F77C-5EA4E801FE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8928" y="1560024"/>
            <a:ext cx="5706228" cy="380890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21" name="Rectangle 20">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747951" y="3411145"/>
            <a:ext cx="1719072"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5213EBA3-2B37-2DE2-E0FF-9215F51BAC0A}"/>
              </a:ext>
            </a:extLst>
          </p:cNvPr>
          <p:cNvSpPr>
            <a:spLocks noGrp="1"/>
          </p:cNvSpPr>
          <p:nvPr>
            <p:ph type="sldNum" sz="quarter" idx="12"/>
          </p:nvPr>
        </p:nvSpPr>
        <p:spPr>
          <a:xfrm>
            <a:off x="6457949" y="6492240"/>
            <a:ext cx="2345200" cy="365125"/>
          </a:xfrm>
        </p:spPr>
        <p:txBody>
          <a:bodyPr vert="horz" lIns="91440" tIns="45720" rIns="91440" bIns="45720" rtlCol="0" anchor="ctr">
            <a:normAutofit/>
          </a:bodyPr>
          <a:lstStyle/>
          <a:p>
            <a:pPr>
              <a:spcAft>
                <a:spcPts val="600"/>
              </a:spcAft>
            </a:pPr>
            <a:fld id="{974D6F18-1E43-4B37-903B-99F7EF8299C6}" type="slidenum">
              <a:rPr lang="en-US"/>
              <a:pPr>
                <a:spcAft>
                  <a:spcPts val="600"/>
                </a:spcAft>
              </a:pPr>
              <a:t>7</a:t>
            </a:fld>
            <a:endParaRPr lang="en-US"/>
          </a:p>
        </p:txBody>
      </p:sp>
    </p:spTree>
    <p:extLst>
      <p:ext uri="{BB962C8B-B14F-4D97-AF65-F5344CB8AC3E}">
        <p14:creationId xmlns:p14="http://schemas.microsoft.com/office/powerpoint/2010/main" val="1394386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2A9BA-D990-284F-5828-E7943C4D4B22}"/>
              </a:ext>
            </a:extLst>
          </p:cNvPr>
          <p:cNvSpPr>
            <a:spLocks noGrp="1"/>
          </p:cNvSpPr>
          <p:nvPr>
            <p:ph type="title"/>
          </p:nvPr>
        </p:nvSpPr>
        <p:spPr>
          <a:xfrm>
            <a:off x="457200" y="274638"/>
            <a:ext cx="8229600" cy="561976"/>
          </a:xfrm>
        </p:spPr>
        <p:txBody>
          <a:bodyPr>
            <a:normAutofit/>
          </a:bodyPr>
          <a:lstStyle/>
          <a:p>
            <a:r>
              <a:rPr lang="en-IN" sz="2400" b="1" dirty="0">
                <a:latin typeface="Times New Roman" panose="02020603050405020304" pitchFamily="18" charset="0"/>
                <a:cs typeface="Times New Roman" panose="02020603050405020304" pitchFamily="18" charset="0"/>
              </a:rPr>
              <a:t>Cell Characteristics</a:t>
            </a:r>
          </a:p>
        </p:txBody>
      </p:sp>
      <p:graphicFrame>
        <p:nvGraphicFramePr>
          <p:cNvPr id="5" name="Content Placeholder 4">
            <a:extLst>
              <a:ext uri="{FF2B5EF4-FFF2-40B4-BE49-F238E27FC236}">
                <a16:creationId xmlns:a16="http://schemas.microsoft.com/office/drawing/2014/main" id="{C57F1C97-1D3D-504D-BD3A-1C96EFE93DD6}"/>
              </a:ext>
            </a:extLst>
          </p:cNvPr>
          <p:cNvGraphicFramePr>
            <a:graphicFrameLocks noGrp="1"/>
          </p:cNvGraphicFramePr>
          <p:nvPr>
            <p:ph idx="1"/>
            <p:extLst>
              <p:ext uri="{D42A27DB-BD31-4B8C-83A1-F6EECF244321}">
                <p14:modId xmlns:p14="http://schemas.microsoft.com/office/powerpoint/2010/main" val="2412142153"/>
              </p:ext>
            </p:extLst>
          </p:nvPr>
        </p:nvGraphicFramePr>
        <p:xfrm>
          <a:off x="609600" y="678676"/>
          <a:ext cx="7728632" cy="5569724"/>
        </p:xfrm>
        <a:graphic>
          <a:graphicData uri="http://schemas.openxmlformats.org/drawingml/2006/table">
            <a:tbl>
              <a:tblPr/>
              <a:tblGrid>
                <a:gridCol w="3441643">
                  <a:extLst>
                    <a:ext uri="{9D8B030D-6E8A-4147-A177-3AD203B41FA5}">
                      <a16:colId xmlns:a16="http://schemas.microsoft.com/office/drawing/2014/main" val="3064085912"/>
                    </a:ext>
                  </a:extLst>
                </a:gridCol>
                <a:gridCol w="4286989">
                  <a:extLst>
                    <a:ext uri="{9D8B030D-6E8A-4147-A177-3AD203B41FA5}">
                      <a16:colId xmlns:a16="http://schemas.microsoft.com/office/drawing/2014/main" val="248813471"/>
                    </a:ext>
                  </a:extLst>
                </a:gridCol>
              </a:tblGrid>
              <a:tr h="356855">
                <a:tc>
                  <a:txBody>
                    <a:bodyPr/>
                    <a:lstStyle/>
                    <a:p>
                      <a:pPr>
                        <a:buNone/>
                      </a:pPr>
                      <a:endParaRPr lang="en-IN" sz="1600" dirty="0"/>
                    </a:p>
                  </a:txBody>
                  <a:tcPr marL="80307" marR="80307" marT="40154" marB="40154" anchor="ctr">
                    <a:lnL>
                      <a:noFill/>
                    </a:lnL>
                    <a:lnR>
                      <a:noFill/>
                    </a:lnR>
                    <a:lnT>
                      <a:noFill/>
                    </a:lnT>
                    <a:lnB>
                      <a:noFill/>
                    </a:lnB>
                    <a:noFill/>
                  </a:tcPr>
                </a:tc>
                <a:tc>
                  <a:txBody>
                    <a:bodyPr/>
                    <a:lstStyle/>
                    <a:p>
                      <a:pPr>
                        <a:buNone/>
                      </a:pPr>
                      <a:endParaRPr lang="en-IN" sz="1600" dirty="0"/>
                    </a:p>
                  </a:txBody>
                  <a:tcPr marL="80307" marR="80307" marT="40154" marB="40154" anchor="ctr">
                    <a:lnL>
                      <a:noFill/>
                    </a:lnL>
                    <a:lnR>
                      <a:noFill/>
                    </a:lnR>
                    <a:lnT>
                      <a:noFill/>
                    </a:lnT>
                    <a:lnB>
                      <a:noFill/>
                    </a:lnB>
                    <a:noFill/>
                  </a:tcPr>
                </a:tc>
                <a:extLst>
                  <a:ext uri="{0D108BD9-81ED-4DB2-BD59-A6C34878D82A}">
                    <a16:rowId xmlns:a16="http://schemas.microsoft.com/office/drawing/2014/main" val="3550107728"/>
                  </a:ext>
                </a:extLst>
              </a:tr>
              <a:tr h="356855">
                <a:tc>
                  <a:txBody>
                    <a:bodyPr/>
                    <a:lstStyle/>
                    <a:p>
                      <a:pPr>
                        <a:buNone/>
                      </a:pPr>
                      <a:endParaRPr lang="en-IN" sz="1600" dirty="0"/>
                    </a:p>
                  </a:txBody>
                  <a:tcPr marL="80307" marR="80307" marT="40154" marB="40154" anchor="ctr">
                    <a:lnL>
                      <a:noFill/>
                    </a:lnL>
                    <a:lnR>
                      <a:noFill/>
                    </a:lnR>
                    <a:lnT>
                      <a:noFill/>
                    </a:lnT>
                    <a:lnB>
                      <a:noFill/>
                    </a:lnB>
                    <a:noFill/>
                  </a:tcPr>
                </a:tc>
                <a:tc>
                  <a:txBody>
                    <a:bodyPr/>
                    <a:lstStyle/>
                    <a:p>
                      <a:pPr>
                        <a:buNone/>
                      </a:pPr>
                      <a:endParaRPr lang="en-IN" sz="1600"/>
                    </a:p>
                  </a:txBody>
                  <a:tcPr marL="80307" marR="80307" marT="40154" marB="40154" anchor="ctr">
                    <a:lnL>
                      <a:noFill/>
                    </a:lnL>
                    <a:lnR>
                      <a:noFill/>
                    </a:lnR>
                    <a:lnT>
                      <a:noFill/>
                    </a:lnT>
                    <a:lnB>
                      <a:noFill/>
                    </a:lnB>
                    <a:noFill/>
                  </a:tcPr>
                </a:tc>
                <a:extLst>
                  <a:ext uri="{0D108BD9-81ED-4DB2-BD59-A6C34878D82A}">
                    <a16:rowId xmlns:a16="http://schemas.microsoft.com/office/drawing/2014/main" val="2425333788"/>
                  </a:ext>
                </a:extLst>
              </a:tr>
              <a:tr h="356855">
                <a:tc>
                  <a:txBody>
                    <a:bodyPr/>
                    <a:lstStyle/>
                    <a:p>
                      <a:pPr>
                        <a:buNone/>
                      </a:pPr>
                      <a:endParaRPr lang="en-IN" sz="1600"/>
                    </a:p>
                  </a:txBody>
                  <a:tcPr marL="80307" marR="80307" marT="40154" marB="40154" anchor="ctr">
                    <a:lnL>
                      <a:noFill/>
                    </a:lnL>
                    <a:lnR>
                      <a:noFill/>
                    </a:lnR>
                    <a:lnT>
                      <a:noFill/>
                    </a:lnT>
                    <a:lnB>
                      <a:noFill/>
                    </a:lnB>
                    <a:noFill/>
                  </a:tcPr>
                </a:tc>
                <a:tc>
                  <a:txBody>
                    <a:bodyPr/>
                    <a:lstStyle/>
                    <a:p>
                      <a:pPr>
                        <a:buNone/>
                      </a:pPr>
                      <a:endParaRPr lang="en-IN" sz="1600"/>
                    </a:p>
                  </a:txBody>
                  <a:tcPr marL="80307" marR="80307" marT="40154" marB="40154" anchor="ctr">
                    <a:lnL>
                      <a:noFill/>
                    </a:lnL>
                    <a:lnR>
                      <a:noFill/>
                    </a:lnR>
                    <a:lnT>
                      <a:noFill/>
                    </a:lnT>
                    <a:lnB>
                      <a:noFill/>
                    </a:lnB>
                    <a:noFill/>
                  </a:tcPr>
                </a:tc>
                <a:extLst>
                  <a:ext uri="{0D108BD9-81ED-4DB2-BD59-A6C34878D82A}">
                    <a16:rowId xmlns:a16="http://schemas.microsoft.com/office/drawing/2014/main" val="1069111898"/>
                  </a:ext>
                </a:extLst>
              </a:tr>
              <a:tr h="356855">
                <a:tc>
                  <a:txBody>
                    <a:bodyPr/>
                    <a:lstStyle/>
                    <a:p>
                      <a:pPr>
                        <a:buNone/>
                      </a:pPr>
                      <a:endParaRPr lang="en-IN" sz="1600" dirty="0"/>
                    </a:p>
                  </a:txBody>
                  <a:tcPr marL="80307" marR="80307" marT="40154" marB="40154" anchor="ctr">
                    <a:lnL>
                      <a:noFill/>
                    </a:lnL>
                    <a:lnR>
                      <a:noFill/>
                    </a:lnR>
                    <a:lnT>
                      <a:noFill/>
                    </a:lnT>
                    <a:lnB>
                      <a:noFill/>
                    </a:lnB>
                    <a:noFill/>
                  </a:tcPr>
                </a:tc>
                <a:tc>
                  <a:txBody>
                    <a:bodyPr/>
                    <a:lstStyle/>
                    <a:p>
                      <a:pPr>
                        <a:buNone/>
                      </a:pPr>
                      <a:endParaRPr lang="en-IN" sz="1600"/>
                    </a:p>
                  </a:txBody>
                  <a:tcPr marL="80307" marR="80307" marT="40154" marB="40154" anchor="ctr">
                    <a:lnL>
                      <a:noFill/>
                    </a:lnL>
                    <a:lnR>
                      <a:noFill/>
                    </a:lnR>
                    <a:lnT>
                      <a:noFill/>
                    </a:lnT>
                    <a:lnB>
                      <a:noFill/>
                    </a:lnB>
                    <a:noFill/>
                  </a:tcPr>
                </a:tc>
                <a:extLst>
                  <a:ext uri="{0D108BD9-81ED-4DB2-BD59-A6C34878D82A}">
                    <a16:rowId xmlns:a16="http://schemas.microsoft.com/office/drawing/2014/main" val="428633545"/>
                  </a:ext>
                </a:extLst>
              </a:tr>
              <a:tr h="356855">
                <a:tc>
                  <a:txBody>
                    <a:bodyPr/>
                    <a:lstStyle/>
                    <a:p>
                      <a:pPr>
                        <a:buNone/>
                      </a:pPr>
                      <a:endParaRPr lang="en-IN" sz="1600" dirty="0"/>
                    </a:p>
                  </a:txBody>
                  <a:tcPr marL="80307" marR="80307" marT="40154" marB="40154" anchor="ctr">
                    <a:lnL>
                      <a:noFill/>
                    </a:lnL>
                    <a:lnR>
                      <a:noFill/>
                    </a:lnR>
                    <a:lnT>
                      <a:noFill/>
                    </a:lnT>
                    <a:lnB>
                      <a:noFill/>
                    </a:lnB>
                    <a:noFill/>
                  </a:tcPr>
                </a:tc>
                <a:tc>
                  <a:txBody>
                    <a:bodyPr/>
                    <a:lstStyle/>
                    <a:p>
                      <a:pPr>
                        <a:buNone/>
                      </a:pPr>
                      <a:endParaRPr lang="en-IN" sz="1600"/>
                    </a:p>
                  </a:txBody>
                  <a:tcPr marL="80307" marR="80307" marT="40154" marB="40154" anchor="ctr">
                    <a:lnL>
                      <a:noFill/>
                    </a:lnL>
                    <a:lnR>
                      <a:noFill/>
                    </a:lnR>
                    <a:lnT>
                      <a:noFill/>
                    </a:lnT>
                    <a:lnB>
                      <a:noFill/>
                    </a:lnB>
                    <a:noFill/>
                  </a:tcPr>
                </a:tc>
                <a:extLst>
                  <a:ext uri="{0D108BD9-81ED-4DB2-BD59-A6C34878D82A}">
                    <a16:rowId xmlns:a16="http://schemas.microsoft.com/office/drawing/2014/main" val="2674962651"/>
                  </a:ext>
                </a:extLst>
              </a:tr>
              <a:tr h="356855">
                <a:tc>
                  <a:txBody>
                    <a:bodyPr/>
                    <a:lstStyle/>
                    <a:p>
                      <a:pPr>
                        <a:buNone/>
                      </a:pPr>
                      <a:endParaRPr lang="en-IN" sz="1600" dirty="0"/>
                    </a:p>
                  </a:txBody>
                  <a:tcPr marL="80307" marR="80307" marT="40154" marB="40154" anchor="ctr">
                    <a:lnL>
                      <a:noFill/>
                    </a:lnL>
                    <a:lnR>
                      <a:noFill/>
                    </a:lnR>
                    <a:lnT>
                      <a:noFill/>
                    </a:lnT>
                    <a:lnB>
                      <a:noFill/>
                    </a:lnB>
                    <a:noFill/>
                  </a:tcPr>
                </a:tc>
                <a:tc>
                  <a:txBody>
                    <a:bodyPr/>
                    <a:lstStyle/>
                    <a:p>
                      <a:pPr>
                        <a:buNone/>
                      </a:pPr>
                      <a:endParaRPr lang="en-IN" sz="1600"/>
                    </a:p>
                  </a:txBody>
                  <a:tcPr marL="80307" marR="80307" marT="40154" marB="40154" anchor="ctr">
                    <a:lnL>
                      <a:noFill/>
                    </a:lnL>
                    <a:lnR>
                      <a:noFill/>
                    </a:lnR>
                    <a:lnT>
                      <a:noFill/>
                    </a:lnT>
                    <a:lnB>
                      <a:noFill/>
                    </a:lnB>
                    <a:noFill/>
                  </a:tcPr>
                </a:tc>
                <a:extLst>
                  <a:ext uri="{0D108BD9-81ED-4DB2-BD59-A6C34878D82A}">
                    <a16:rowId xmlns:a16="http://schemas.microsoft.com/office/drawing/2014/main" val="126506966"/>
                  </a:ext>
                </a:extLst>
              </a:tr>
              <a:tr h="356855">
                <a:tc>
                  <a:txBody>
                    <a:bodyPr/>
                    <a:lstStyle/>
                    <a:p>
                      <a:pPr>
                        <a:buNone/>
                      </a:pPr>
                      <a:endParaRPr lang="en-IN" sz="1600" dirty="0"/>
                    </a:p>
                  </a:txBody>
                  <a:tcPr marL="80307" marR="80307" marT="40154" marB="40154" anchor="ctr">
                    <a:lnL>
                      <a:noFill/>
                    </a:lnL>
                    <a:lnR>
                      <a:noFill/>
                    </a:lnR>
                    <a:lnT>
                      <a:noFill/>
                    </a:lnT>
                    <a:lnB>
                      <a:noFill/>
                    </a:lnB>
                    <a:noFill/>
                  </a:tcPr>
                </a:tc>
                <a:tc>
                  <a:txBody>
                    <a:bodyPr/>
                    <a:lstStyle/>
                    <a:p>
                      <a:pPr>
                        <a:buNone/>
                      </a:pPr>
                      <a:endParaRPr lang="en-IN" sz="1600" dirty="0"/>
                    </a:p>
                  </a:txBody>
                  <a:tcPr marL="80307" marR="80307" marT="40154" marB="40154" anchor="ctr">
                    <a:lnL>
                      <a:noFill/>
                    </a:lnL>
                    <a:lnR>
                      <a:noFill/>
                    </a:lnR>
                    <a:lnT>
                      <a:noFill/>
                    </a:lnT>
                    <a:lnB>
                      <a:noFill/>
                    </a:lnB>
                    <a:noFill/>
                  </a:tcPr>
                </a:tc>
                <a:extLst>
                  <a:ext uri="{0D108BD9-81ED-4DB2-BD59-A6C34878D82A}">
                    <a16:rowId xmlns:a16="http://schemas.microsoft.com/office/drawing/2014/main" val="2095062077"/>
                  </a:ext>
                </a:extLst>
              </a:tr>
              <a:tr h="356855">
                <a:tc>
                  <a:txBody>
                    <a:bodyPr/>
                    <a:lstStyle/>
                    <a:p>
                      <a:pPr>
                        <a:buNone/>
                      </a:pPr>
                      <a:endParaRPr lang="en-IN" sz="1600"/>
                    </a:p>
                  </a:txBody>
                  <a:tcPr marL="80307" marR="80307" marT="40154" marB="40154" anchor="ctr">
                    <a:lnL>
                      <a:noFill/>
                    </a:lnL>
                    <a:lnR>
                      <a:noFill/>
                    </a:lnR>
                    <a:lnT>
                      <a:noFill/>
                    </a:lnT>
                    <a:lnB>
                      <a:noFill/>
                    </a:lnB>
                    <a:noFill/>
                  </a:tcPr>
                </a:tc>
                <a:tc>
                  <a:txBody>
                    <a:bodyPr/>
                    <a:lstStyle/>
                    <a:p>
                      <a:pPr>
                        <a:buNone/>
                      </a:pPr>
                      <a:endParaRPr lang="en-IN" sz="1600" dirty="0"/>
                    </a:p>
                  </a:txBody>
                  <a:tcPr marL="80307" marR="80307" marT="40154" marB="40154" anchor="ctr">
                    <a:lnL>
                      <a:noFill/>
                    </a:lnL>
                    <a:lnR>
                      <a:noFill/>
                    </a:lnR>
                    <a:lnT>
                      <a:noFill/>
                    </a:lnT>
                    <a:lnB>
                      <a:noFill/>
                    </a:lnB>
                    <a:noFill/>
                  </a:tcPr>
                </a:tc>
                <a:extLst>
                  <a:ext uri="{0D108BD9-81ED-4DB2-BD59-A6C34878D82A}">
                    <a16:rowId xmlns:a16="http://schemas.microsoft.com/office/drawing/2014/main" val="1931446135"/>
                  </a:ext>
                </a:extLst>
              </a:tr>
              <a:tr h="356855">
                <a:tc>
                  <a:txBody>
                    <a:bodyPr/>
                    <a:lstStyle/>
                    <a:p>
                      <a:pPr>
                        <a:buNone/>
                      </a:pPr>
                      <a:endParaRPr lang="en-IN" sz="1600"/>
                    </a:p>
                  </a:txBody>
                  <a:tcPr marL="80307" marR="80307" marT="40154" marB="40154" anchor="ctr">
                    <a:lnL>
                      <a:noFill/>
                    </a:lnL>
                    <a:lnR>
                      <a:noFill/>
                    </a:lnR>
                    <a:lnT>
                      <a:noFill/>
                    </a:lnT>
                    <a:lnB>
                      <a:noFill/>
                    </a:lnB>
                    <a:noFill/>
                  </a:tcPr>
                </a:tc>
                <a:tc>
                  <a:txBody>
                    <a:bodyPr/>
                    <a:lstStyle/>
                    <a:p>
                      <a:pPr>
                        <a:buNone/>
                      </a:pPr>
                      <a:endParaRPr lang="en-IN" sz="1600"/>
                    </a:p>
                  </a:txBody>
                  <a:tcPr marL="80307" marR="80307" marT="40154" marB="40154" anchor="ctr">
                    <a:lnL>
                      <a:noFill/>
                    </a:lnL>
                    <a:lnR>
                      <a:noFill/>
                    </a:lnR>
                    <a:lnT>
                      <a:noFill/>
                    </a:lnT>
                    <a:lnB>
                      <a:noFill/>
                    </a:lnB>
                    <a:noFill/>
                  </a:tcPr>
                </a:tc>
                <a:extLst>
                  <a:ext uri="{0D108BD9-81ED-4DB2-BD59-A6C34878D82A}">
                    <a16:rowId xmlns:a16="http://schemas.microsoft.com/office/drawing/2014/main" val="2356225073"/>
                  </a:ext>
                </a:extLst>
              </a:tr>
              <a:tr h="356855">
                <a:tc>
                  <a:txBody>
                    <a:bodyPr/>
                    <a:lstStyle/>
                    <a:p>
                      <a:pPr>
                        <a:buNone/>
                      </a:pPr>
                      <a:endParaRPr lang="en-IN" sz="1600"/>
                    </a:p>
                  </a:txBody>
                  <a:tcPr marL="80307" marR="80307" marT="40154" marB="40154" anchor="ctr">
                    <a:lnL>
                      <a:noFill/>
                    </a:lnL>
                    <a:lnR>
                      <a:noFill/>
                    </a:lnR>
                    <a:lnT>
                      <a:noFill/>
                    </a:lnT>
                    <a:lnB>
                      <a:noFill/>
                    </a:lnB>
                    <a:noFill/>
                  </a:tcPr>
                </a:tc>
                <a:tc>
                  <a:txBody>
                    <a:bodyPr/>
                    <a:lstStyle/>
                    <a:p>
                      <a:pPr>
                        <a:buNone/>
                      </a:pPr>
                      <a:endParaRPr lang="en-IN" sz="1600" dirty="0"/>
                    </a:p>
                  </a:txBody>
                  <a:tcPr marL="80307" marR="80307" marT="40154" marB="40154" anchor="ctr">
                    <a:lnL>
                      <a:noFill/>
                    </a:lnL>
                    <a:lnR>
                      <a:noFill/>
                    </a:lnR>
                    <a:lnT>
                      <a:noFill/>
                    </a:lnT>
                    <a:lnB>
                      <a:noFill/>
                    </a:lnB>
                    <a:noFill/>
                  </a:tcPr>
                </a:tc>
                <a:extLst>
                  <a:ext uri="{0D108BD9-81ED-4DB2-BD59-A6C34878D82A}">
                    <a16:rowId xmlns:a16="http://schemas.microsoft.com/office/drawing/2014/main" val="3817448357"/>
                  </a:ext>
                </a:extLst>
              </a:tr>
              <a:tr h="356855">
                <a:tc>
                  <a:txBody>
                    <a:bodyPr/>
                    <a:lstStyle/>
                    <a:p>
                      <a:pPr>
                        <a:buNone/>
                      </a:pPr>
                      <a:endParaRPr lang="en-IN" sz="1600"/>
                    </a:p>
                  </a:txBody>
                  <a:tcPr marL="80307" marR="80307" marT="40154" marB="40154" anchor="ctr">
                    <a:lnL>
                      <a:noFill/>
                    </a:lnL>
                    <a:lnR>
                      <a:noFill/>
                    </a:lnR>
                    <a:lnT>
                      <a:noFill/>
                    </a:lnT>
                    <a:lnB>
                      <a:noFill/>
                    </a:lnB>
                    <a:noFill/>
                  </a:tcPr>
                </a:tc>
                <a:tc>
                  <a:txBody>
                    <a:bodyPr/>
                    <a:lstStyle/>
                    <a:p>
                      <a:pPr>
                        <a:buNone/>
                      </a:pPr>
                      <a:endParaRPr lang="en-IN" sz="1600"/>
                    </a:p>
                  </a:txBody>
                  <a:tcPr marL="80307" marR="80307" marT="40154" marB="40154" anchor="ctr">
                    <a:lnL>
                      <a:noFill/>
                    </a:lnL>
                    <a:lnR>
                      <a:noFill/>
                    </a:lnR>
                    <a:lnT>
                      <a:noFill/>
                    </a:lnT>
                    <a:lnB>
                      <a:noFill/>
                    </a:lnB>
                    <a:noFill/>
                  </a:tcPr>
                </a:tc>
                <a:extLst>
                  <a:ext uri="{0D108BD9-81ED-4DB2-BD59-A6C34878D82A}">
                    <a16:rowId xmlns:a16="http://schemas.microsoft.com/office/drawing/2014/main" val="1330320803"/>
                  </a:ext>
                </a:extLst>
              </a:tr>
              <a:tr h="573754">
                <a:tc>
                  <a:txBody>
                    <a:bodyPr/>
                    <a:lstStyle/>
                    <a:p>
                      <a:pPr>
                        <a:buNone/>
                      </a:pPr>
                      <a:endParaRPr lang="en-IN" sz="1600"/>
                    </a:p>
                  </a:txBody>
                  <a:tcPr marL="80307" marR="80307" marT="40154" marB="40154" anchor="ctr">
                    <a:lnL>
                      <a:noFill/>
                    </a:lnL>
                    <a:lnR>
                      <a:noFill/>
                    </a:lnR>
                    <a:lnT>
                      <a:noFill/>
                    </a:lnT>
                    <a:lnB>
                      <a:noFill/>
                    </a:lnB>
                    <a:noFill/>
                  </a:tcPr>
                </a:tc>
                <a:tc>
                  <a:txBody>
                    <a:bodyPr/>
                    <a:lstStyle/>
                    <a:p>
                      <a:pPr>
                        <a:buNone/>
                      </a:pPr>
                      <a:endParaRPr lang="en-IN" sz="1600" dirty="0"/>
                    </a:p>
                  </a:txBody>
                  <a:tcPr marL="80307" marR="80307" marT="40154" marB="40154" anchor="ctr">
                    <a:lnL>
                      <a:noFill/>
                    </a:lnL>
                    <a:lnR>
                      <a:noFill/>
                    </a:lnR>
                    <a:lnT>
                      <a:noFill/>
                    </a:lnT>
                    <a:lnB>
                      <a:noFill/>
                    </a:lnB>
                    <a:noFill/>
                  </a:tcPr>
                </a:tc>
                <a:extLst>
                  <a:ext uri="{0D108BD9-81ED-4DB2-BD59-A6C34878D82A}">
                    <a16:rowId xmlns:a16="http://schemas.microsoft.com/office/drawing/2014/main" val="4165172978"/>
                  </a:ext>
                </a:extLst>
              </a:tr>
              <a:tr h="356855">
                <a:tc>
                  <a:txBody>
                    <a:bodyPr/>
                    <a:lstStyle/>
                    <a:p>
                      <a:pPr>
                        <a:buNone/>
                      </a:pPr>
                      <a:endParaRPr lang="en-IN" sz="1600"/>
                    </a:p>
                  </a:txBody>
                  <a:tcPr marL="80307" marR="80307" marT="40154" marB="40154" anchor="ctr">
                    <a:lnL>
                      <a:noFill/>
                    </a:lnL>
                    <a:lnR>
                      <a:noFill/>
                    </a:lnR>
                    <a:lnT>
                      <a:noFill/>
                    </a:lnT>
                    <a:lnB>
                      <a:noFill/>
                    </a:lnB>
                    <a:noFill/>
                  </a:tcPr>
                </a:tc>
                <a:tc>
                  <a:txBody>
                    <a:bodyPr/>
                    <a:lstStyle/>
                    <a:p>
                      <a:pPr>
                        <a:buNone/>
                      </a:pPr>
                      <a:endParaRPr lang="en-IN" sz="1600" dirty="0"/>
                    </a:p>
                  </a:txBody>
                  <a:tcPr marL="80307" marR="80307" marT="40154" marB="40154" anchor="ctr">
                    <a:lnL>
                      <a:noFill/>
                    </a:lnL>
                    <a:lnR>
                      <a:noFill/>
                    </a:lnR>
                    <a:lnT>
                      <a:noFill/>
                    </a:lnT>
                    <a:lnB>
                      <a:noFill/>
                    </a:lnB>
                    <a:noFill/>
                  </a:tcPr>
                </a:tc>
                <a:extLst>
                  <a:ext uri="{0D108BD9-81ED-4DB2-BD59-A6C34878D82A}">
                    <a16:rowId xmlns:a16="http://schemas.microsoft.com/office/drawing/2014/main" val="2765593945"/>
                  </a:ext>
                </a:extLst>
              </a:tr>
              <a:tr h="356855">
                <a:tc>
                  <a:txBody>
                    <a:bodyPr/>
                    <a:lstStyle/>
                    <a:p>
                      <a:pPr>
                        <a:buNone/>
                      </a:pPr>
                      <a:endParaRPr lang="en-IN" sz="1600"/>
                    </a:p>
                  </a:txBody>
                  <a:tcPr marL="80307" marR="80307" marT="40154" marB="40154" anchor="ctr">
                    <a:lnL>
                      <a:noFill/>
                    </a:lnL>
                    <a:lnR>
                      <a:noFill/>
                    </a:lnR>
                    <a:lnT>
                      <a:noFill/>
                    </a:lnT>
                    <a:lnB>
                      <a:noFill/>
                    </a:lnB>
                    <a:noFill/>
                  </a:tcPr>
                </a:tc>
                <a:tc>
                  <a:txBody>
                    <a:bodyPr/>
                    <a:lstStyle/>
                    <a:p>
                      <a:pPr>
                        <a:buNone/>
                      </a:pPr>
                      <a:endParaRPr lang="en-IN" sz="1600" dirty="0"/>
                    </a:p>
                  </a:txBody>
                  <a:tcPr marL="80307" marR="80307" marT="40154" marB="40154" anchor="ctr">
                    <a:lnL>
                      <a:noFill/>
                    </a:lnL>
                    <a:lnR>
                      <a:noFill/>
                    </a:lnR>
                    <a:lnT>
                      <a:noFill/>
                    </a:lnT>
                    <a:lnB>
                      <a:noFill/>
                    </a:lnB>
                    <a:noFill/>
                  </a:tcPr>
                </a:tc>
                <a:extLst>
                  <a:ext uri="{0D108BD9-81ED-4DB2-BD59-A6C34878D82A}">
                    <a16:rowId xmlns:a16="http://schemas.microsoft.com/office/drawing/2014/main" val="1114241653"/>
                  </a:ext>
                </a:extLst>
              </a:tr>
              <a:tr h="356855">
                <a:tc>
                  <a:txBody>
                    <a:bodyPr/>
                    <a:lstStyle/>
                    <a:p>
                      <a:pPr>
                        <a:buNone/>
                      </a:pPr>
                      <a:endParaRPr lang="en-IN" sz="1600" dirty="0"/>
                    </a:p>
                  </a:txBody>
                  <a:tcPr marL="80307" marR="80307" marT="40154" marB="40154" anchor="ctr">
                    <a:lnL>
                      <a:noFill/>
                    </a:lnL>
                    <a:lnR>
                      <a:noFill/>
                    </a:lnR>
                    <a:lnT>
                      <a:noFill/>
                    </a:lnT>
                    <a:lnB>
                      <a:noFill/>
                    </a:lnB>
                    <a:noFill/>
                  </a:tcPr>
                </a:tc>
                <a:tc>
                  <a:txBody>
                    <a:bodyPr/>
                    <a:lstStyle/>
                    <a:p>
                      <a:pPr>
                        <a:buNone/>
                      </a:pPr>
                      <a:endParaRPr lang="en-IN" sz="1600" dirty="0"/>
                    </a:p>
                  </a:txBody>
                  <a:tcPr marL="80307" marR="80307" marT="40154" marB="40154" anchor="ctr">
                    <a:lnL>
                      <a:noFill/>
                    </a:lnL>
                    <a:lnR>
                      <a:noFill/>
                    </a:lnR>
                    <a:lnT>
                      <a:noFill/>
                    </a:lnT>
                    <a:lnB>
                      <a:noFill/>
                    </a:lnB>
                    <a:noFill/>
                  </a:tcPr>
                </a:tc>
                <a:extLst>
                  <a:ext uri="{0D108BD9-81ED-4DB2-BD59-A6C34878D82A}">
                    <a16:rowId xmlns:a16="http://schemas.microsoft.com/office/drawing/2014/main" val="3134179011"/>
                  </a:ext>
                </a:extLst>
              </a:tr>
            </a:tbl>
          </a:graphicData>
        </a:graphic>
      </p:graphicFrame>
      <p:sp>
        <p:nvSpPr>
          <p:cNvPr id="4" name="Slide Number Placeholder 3">
            <a:extLst>
              <a:ext uri="{FF2B5EF4-FFF2-40B4-BE49-F238E27FC236}">
                <a16:creationId xmlns:a16="http://schemas.microsoft.com/office/drawing/2014/main" id="{D49358FA-02E4-74DB-82FA-611342664247}"/>
              </a:ext>
            </a:extLst>
          </p:cNvPr>
          <p:cNvSpPr>
            <a:spLocks noGrp="1"/>
          </p:cNvSpPr>
          <p:nvPr>
            <p:ph type="sldNum" sz="quarter" idx="12"/>
          </p:nvPr>
        </p:nvSpPr>
        <p:spPr/>
        <p:txBody>
          <a:bodyPr/>
          <a:lstStyle/>
          <a:p>
            <a:fld id="{974D6F18-1E43-4B37-903B-99F7EF8299C6}" type="slidenum">
              <a:rPr lang="en-US" smtClean="0"/>
              <a:pPr/>
              <a:t>8</a:t>
            </a:fld>
            <a:endParaRPr lang="en-US" dirty="0"/>
          </a:p>
        </p:txBody>
      </p:sp>
      <p:graphicFrame>
        <p:nvGraphicFramePr>
          <p:cNvPr id="6" name="Table 5">
            <a:extLst>
              <a:ext uri="{FF2B5EF4-FFF2-40B4-BE49-F238E27FC236}">
                <a16:creationId xmlns:a16="http://schemas.microsoft.com/office/drawing/2014/main" id="{CE004769-D464-E5F4-7F03-883D70CAB48B}"/>
              </a:ext>
            </a:extLst>
          </p:cNvPr>
          <p:cNvGraphicFramePr>
            <a:graphicFrameLocks noGrp="1"/>
          </p:cNvGraphicFramePr>
          <p:nvPr>
            <p:extLst>
              <p:ext uri="{D42A27DB-BD31-4B8C-83A1-F6EECF244321}">
                <p14:modId xmlns:p14="http://schemas.microsoft.com/office/powerpoint/2010/main" val="3577055545"/>
              </p:ext>
            </p:extLst>
          </p:nvPr>
        </p:nvGraphicFramePr>
        <p:xfrm>
          <a:off x="1524000" y="1397000"/>
          <a:ext cx="6096000" cy="2641602"/>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307902179"/>
                    </a:ext>
                  </a:extLst>
                </a:gridCol>
                <a:gridCol w="3048000">
                  <a:extLst>
                    <a:ext uri="{9D8B030D-6E8A-4147-A177-3AD203B41FA5}">
                      <a16:colId xmlns:a16="http://schemas.microsoft.com/office/drawing/2014/main" val="1372692206"/>
                    </a:ext>
                  </a:extLst>
                </a:gridCol>
              </a:tblGrid>
              <a:tr h="440267">
                <a:tc>
                  <a:txBody>
                    <a:bodyPr/>
                    <a:lstStyle/>
                    <a:p>
                      <a:endParaRPr lang="en-IN"/>
                    </a:p>
                  </a:txBody>
                  <a:tcPr/>
                </a:tc>
                <a:tc>
                  <a:txBody>
                    <a:bodyPr/>
                    <a:lstStyle/>
                    <a:p>
                      <a:endParaRPr lang="en-IN"/>
                    </a:p>
                  </a:txBody>
                  <a:tcPr/>
                </a:tc>
                <a:extLst>
                  <a:ext uri="{0D108BD9-81ED-4DB2-BD59-A6C34878D82A}">
                    <a16:rowId xmlns:a16="http://schemas.microsoft.com/office/drawing/2014/main" val="3971018189"/>
                  </a:ext>
                </a:extLst>
              </a:tr>
              <a:tr h="440267">
                <a:tc>
                  <a:txBody>
                    <a:bodyPr/>
                    <a:lstStyle/>
                    <a:p>
                      <a:endParaRPr lang="en-IN"/>
                    </a:p>
                  </a:txBody>
                  <a:tcPr/>
                </a:tc>
                <a:tc>
                  <a:txBody>
                    <a:bodyPr/>
                    <a:lstStyle/>
                    <a:p>
                      <a:endParaRPr lang="en-IN"/>
                    </a:p>
                  </a:txBody>
                  <a:tcPr/>
                </a:tc>
                <a:extLst>
                  <a:ext uri="{0D108BD9-81ED-4DB2-BD59-A6C34878D82A}">
                    <a16:rowId xmlns:a16="http://schemas.microsoft.com/office/drawing/2014/main" val="1525739688"/>
                  </a:ext>
                </a:extLst>
              </a:tr>
              <a:tr h="440267">
                <a:tc>
                  <a:txBody>
                    <a:bodyPr/>
                    <a:lstStyle/>
                    <a:p>
                      <a:endParaRPr lang="en-IN"/>
                    </a:p>
                  </a:txBody>
                  <a:tcPr/>
                </a:tc>
                <a:tc>
                  <a:txBody>
                    <a:bodyPr/>
                    <a:lstStyle/>
                    <a:p>
                      <a:endParaRPr lang="en-IN"/>
                    </a:p>
                  </a:txBody>
                  <a:tcPr/>
                </a:tc>
                <a:extLst>
                  <a:ext uri="{0D108BD9-81ED-4DB2-BD59-A6C34878D82A}">
                    <a16:rowId xmlns:a16="http://schemas.microsoft.com/office/drawing/2014/main" val="574030913"/>
                  </a:ext>
                </a:extLst>
              </a:tr>
              <a:tr h="440267">
                <a:tc>
                  <a:txBody>
                    <a:bodyPr/>
                    <a:lstStyle/>
                    <a:p>
                      <a:endParaRPr lang="en-IN"/>
                    </a:p>
                  </a:txBody>
                  <a:tcPr/>
                </a:tc>
                <a:tc>
                  <a:txBody>
                    <a:bodyPr/>
                    <a:lstStyle/>
                    <a:p>
                      <a:endParaRPr lang="en-IN"/>
                    </a:p>
                  </a:txBody>
                  <a:tcPr/>
                </a:tc>
                <a:extLst>
                  <a:ext uri="{0D108BD9-81ED-4DB2-BD59-A6C34878D82A}">
                    <a16:rowId xmlns:a16="http://schemas.microsoft.com/office/drawing/2014/main" val="4207544067"/>
                  </a:ext>
                </a:extLst>
              </a:tr>
              <a:tr h="440267">
                <a:tc>
                  <a:txBody>
                    <a:bodyPr/>
                    <a:lstStyle/>
                    <a:p>
                      <a:endParaRPr lang="en-IN"/>
                    </a:p>
                  </a:txBody>
                  <a:tcPr/>
                </a:tc>
                <a:tc>
                  <a:txBody>
                    <a:bodyPr/>
                    <a:lstStyle/>
                    <a:p>
                      <a:endParaRPr lang="en-IN"/>
                    </a:p>
                  </a:txBody>
                  <a:tcPr/>
                </a:tc>
                <a:extLst>
                  <a:ext uri="{0D108BD9-81ED-4DB2-BD59-A6C34878D82A}">
                    <a16:rowId xmlns:a16="http://schemas.microsoft.com/office/drawing/2014/main" val="2988947454"/>
                  </a:ext>
                </a:extLst>
              </a:tr>
              <a:tr h="440267">
                <a:tc>
                  <a:txBody>
                    <a:bodyPr/>
                    <a:lstStyle/>
                    <a:p>
                      <a:endParaRPr lang="en-IN"/>
                    </a:p>
                  </a:txBody>
                  <a:tcPr/>
                </a:tc>
                <a:tc>
                  <a:txBody>
                    <a:bodyPr/>
                    <a:lstStyle/>
                    <a:p>
                      <a:endParaRPr lang="en-IN" dirty="0"/>
                    </a:p>
                  </a:txBody>
                  <a:tcPr/>
                </a:tc>
                <a:extLst>
                  <a:ext uri="{0D108BD9-81ED-4DB2-BD59-A6C34878D82A}">
                    <a16:rowId xmlns:a16="http://schemas.microsoft.com/office/drawing/2014/main" val="570643461"/>
                  </a:ext>
                </a:extLst>
              </a:tr>
            </a:tbl>
          </a:graphicData>
        </a:graphic>
      </p:graphicFrame>
      <p:graphicFrame>
        <p:nvGraphicFramePr>
          <p:cNvPr id="7" name="Table 6">
            <a:extLst>
              <a:ext uri="{FF2B5EF4-FFF2-40B4-BE49-F238E27FC236}">
                <a16:creationId xmlns:a16="http://schemas.microsoft.com/office/drawing/2014/main" id="{96CCAD78-3E35-B17A-8D38-41C9457803B4}"/>
              </a:ext>
            </a:extLst>
          </p:cNvPr>
          <p:cNvGraphicFramePr>
            <a:graphicFrameLocks noGrp="1"/>
          </p:cNvGraphicFramePr>
          <p:nvPr>
            <p:extLst>
              <p:ext uri="{D42A27DB-BD31-4B8C-83A1-F6EECF244321}">
                <p14:modId xmlns:p14="http://schemas.microsoft.com/office/powerpoint/2010/main" val="1919945954"/>
              </p:ext>
            </p:extLst>
          </p:nvPr>
        </p:nvGraphicFramePr>
        <p:xfrm>
          <a:off x="1295400" y="836614"/>
          <a:ext cx="7042832" cy="5746748"/>
        </p:xfrm>
        <a:graphic>
          <a:graphicData uri="http://schemas.openxmlformats.org/drawingml/2006/table">
            <a:tbl>
              <a:tblPr firstRow="1" bandRow="1">
                <a:tableStyleId>{5C22544A-7EE6-4342-B048-85BDC9FD1C3A}</a:tableStyleId>
              </a:tblPr>
              <a:tblGrid>
                <a:gridCol w="3656253">
                  <a:extLst>
                    <a:ext uri="{9D8B030D-6E8A-4147-A177-3AD203B41FA5}">
                      <a16:colId xmlns:a16="http://schemas.microsoft.com/office/drawing/2014/main" val="2125998492"/>
                    </a:ext>
                  </a:extLst>
                </a:gridCol>
                <a:gridCol w="3386579">
                  <a:extLst>
                    <a:ext uri="{9D8B030D-6E8A-4147-A177-3AD203B41FA5}">
                      <a16:colId xmlns:a16="http://schemas.microsoft.com/office/drawing/2014/main" val="800909989"/>
                    </a:ext>
                  </a:extLst>
                </a:gridCol>
              </a:tblGrid>
              <a:tr h="334819">
                <a:tc>
                  <a:txBody>
                    <a:bodyPr/>
                    <a:lstStyle/>
                    <a:p>
                      <a:pPr>
                        <a:buNone/>
                      </a:pPr>
                      <a:r>
                        <a:rPr lang="en-IN" sz="1600" b="1" dirty="0">
                          <a:latin typeface="Times New Roman" panose="02020603050405020304" pitchFamily="18" charset="0"/>
                          <a:cs typeface="Times New Roman" panose="02020603050405020304" pitchFamily="18" charset="0"/>
                        </a:rPr>
                        <a:t>Parameter</a:t>
                      </a:r>
                      <a:endParaRPr lang="en-IN" sz="1600" dirty="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buNone/>
                      </a:pPr>
                      <a:r>
                        <a:rPr lang="en-IN" sz="1600" b="1"/>
                        <a:t>Specification</a:t>
                      </a:r>
                      <a:endParaRPr lang="en-IN" sz="1600"/>
                    </a:p>
                  </a:txBody>
                  <a:tcPr marL="80307" marR="80307" marT="40154" marB="40154" anchor="ctr"/>
                </a:tc>
                <a:extLst>
                  <a:ext uri="{0D108BD9-81ED-4DB2-BD59-A6C34878D82A}">
                    <a16:rowId xmlns:a16="http://schemas.microsoft.com/office/drawing/2014/main" val="3309812959"/>
                  </a:ext>
                </a:extLst>
              </a:tr>
              <a:tr h="334819">
                <a:tc>
                  <a:txBody>
                    <a:bodyPr/>
                    <a:lstStyle/>
                    <a:p>
                      <a:pPr>
                        <a:buNone/>
                      </a:pPr>
                      <a:r>
                        <a:rPr lang="en-IN" sz="1600" b="1" dirty="0">
                          <a:latin typeface="Times New Roman" panose="02020603050405020304" pitchFamily="18" charset="0"/>
                          <a:cs typeface="Times New Roman" panose="02020603050405020304" pitchFamily="18" charset="0"/>
                        </a:rPr>
                        <a:t>Capacity (Typical)</a:t>
                      </a:r>
                      <a:endParaRPr lang="en-IN" sz="1600" dirty="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4500 mAh</a:t>
                      </a:r>
                    </a:p>
                  </a:txBody>
                  <a:tcPr marL="80307" marR="80307" marT="40154" marB="40154" anchor="ctr"/>
                </a:tc>
                <a:extLst>
                  <a:ext uri="{0D108BD9-81ED-4DB2-BD59-A6C34878D82A}">
                    <a16:rowId xmlns:a16="http://schemas.microsoft.com/office/drawing/2014/main" val="1640177253"/>
                  </a:ext>
                </a:extLst>
              </a:tr>
              <a:tr h="334819">
                <a:tc>
                  <a:txBody>
                    <a:bodyPr/>
                    <a:lstStyle/>
                    <a:p>
                      <a:pPr>
                        <a:buNone/>
                      </a:pPr>
                      <a:r>
                        <a:rPr lang="en-IN" sz="1600" b="1">
                          <a:latin typeface="Times New Roman" panose="02020603050405020304" pitchFamily="18" charset="0"/>
                          <a:cs typeface="Times New Roman" panose="02020603050405020304" pitchFamily="18" charset="0"/>
                        </a:rPr>
                        <a:t>Capacity (Minimum)</a:t>
                      </a:r>
                      <a:endParaRPr lang="en-IN" sz="160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4300 mAh</a:t>
                      </a:r>
                    </a:p>
                  </a:txBody>
                  <a:tcPr marL="80307" marR="80307" marT="40154" marB="40154" anchor="ctr"/>
                </a:tc>
                <a:extLst>
                  <a:ext uri="{0D108BD9-81ED-4DB2-BD59-A6C34878D82A}">
                    <a16:rowId xmlns:a16="http://schemas.microsoft.com/office/drawing/2014/main" val="1646547022"/>
                  </a:ext>
                </a:extLst>
              </a:tr>
              <a:tr h="334819">
                <a:tc>
                  <a:txBody>
                    <a:bodyPr/>
                    <a:lstStyle/>
                    <a:p>
                      <a:pPr>
                        <a:buNone/>
                      </a:pPr>
                      <a:r>
                        <a:rPr lang="en-IN" sz="1600" b="1" dirty="0">
                          <a:latin typeface="Times New Roman" panose="02020603050405020304" pitchFamily="18" charset="0"/>
                          <a:cs typeface="Times New Roman" panose="02020603050405020304" pitchFamily="18" charset="0"/>
                        </a:rPr>
                        <a:t>Charge Voltage</a:t>
                      </a:r>
                      <a:endParaRPr lang="en-IN" sz="1600" dirty="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4.2 V</a:t>
                      </a:r>
                    </a:p>
                  </a:txBody>
                  <a:tcPr marL="80307" marR="80307" marT="40154" marB="40154" anchor="ctr"/>
                </a:tc>
                <a:extLst>
                  <a:ext uri="{0D108BD9-81ED-4DB2-BD59-A6C34878D82A}">
                    <a16:rowId xmlns:a16="http://schemas.microsoft.com/office/drawing/2014/main" val="2836103028"/>
                  </a:ext>
                </a:extLst>
              </a:tr>
              <a:tr h="334819">
                <a:tc>
                  <a:txBody>
                    <a:bodyPr/>
                    <a:lstStyle/>
                    <a:p>
                      <a:pPr>
                        <a:buNone/>
                      </a:pPr>
                      <a:r>
                        <a:rPr lang="en-IN" sz="1600" b="1" dirty="0">
                          <a:latin typeface="Times New Roman" panose="02020603050405020304" pitchFamily="18" charset="0"/>
                          <a:cs typeface="Times New Roman" panose="02020603050405020304" pitchFamily="18" charset="0"/>
                        </a:rPr>
                        <a:t>Nominal Voltage</a:t>
                      </a:r>
                      <a:endParaRPr lang="en-IN" sz="1600" dirty="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3.6 V</a:t>
                      </a:r>
                    </a:p>
                  </a:txBody>
                  <a:tcPr marL="80307" marR="80307" marT="40154" marB="40154" anchor="ctr"/>
                </a:tc>
                <a:extLst>
                  <a:ext uri="{0D108BD9-81ED-4DB2-BD59-A6C34878D82A}">
                    <a16:rowId xmlns:a16="http://schemas.microsoft.com/office/drawing/2014/main" val="3818330569"/>
                  </a:ext>
                </a:extLst>
              </a:tr>
              <a:tr h="334819">
                <a:tc>
                  <a:txBody>
                    <a:bodyPr/>
                    <a:lstStyle/>
                    <a:p>
                      <a:pPr>
                        <a:buNone/>
                      </a:pPr>
                      <a:r>
                        <a:rPr lang="en-IN" sz="1600" b="1" dirty="0">
                          <a:latin typeface="Times New Roman" panose="02020603050405020304" pitchFamily="18" charset="0"/>
                          <a:cs typeface="Times New Roman" panose="02020603050405020304" pitchFamily="18" charset="0"/>
                        </a:rPr>
                        <a:t>Cell Weight</a:t>
                      </a:r>
                      <a:endParaRPr lang="en-IN" sz="1600" dirty="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70 g (Typical)</a:t>
                      </a:r>
                    </a:p>
                  </a:txBody>
                  <a:tcPr marL="80307" marR="80307" marT="40154" marB="40154" anchor="ctr"/>
                </a:tc>
                <a:extLst>
                  <a:ext uri="{0D108BD9-81ED-4DB2-BD59-A6C34878D82A}">
                    <a16:rowId xmlns:a16="http://schemas.microsoft.com/office/drawing/2014/main" val="2340457308"/>
                  </a:ext>
                </a:extLst>
              </a:tr>
              <a:tr h="465457">
                <a:tc>
                  <a:txBody>
                    <a:bodyPr/>
                    <a:lstStyle/>
                    <a:p>
                      <a:pPr>
                        <a:buNone/>
                      </a:pPr>
                      <a:r>
                        <a:rPr lang="en-IN" sz="1600" b="1" dirty="0">
                          <a:latin typeface="Times New Roman" panose="02020603050405020304" pitchFamily="18" charset="0"/>
                          <a:cs typeface="Times New Roman" panose="02020603050405020304" pitchFamily="18" charset="0"/>
                        </a:rPr>
                        <a:t>Standard Charge - Constant Current</a:t>
                      </a:r>
                      <a:endParaRPr lang="en-IN" sz="1600" dirty="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4.5 A</a:t>
                      </a:r>
                    </a:p>
                  </a:txBody>
                  <a:tcPr marL="80307" marR="80307" marT="40154" marB="40154" anchor="ctr"/>
                </a:tc>
                <a:extLst>
                  <a:ext uri="{0D108BD9-81ED-4DB2-BD59-A6C34878D82A}">
                    <a16:rowId xmlns:a16="http://schemas.microsoft.com/office/drawing/2014/main" val="3994829085"/>
                  </a:ext>
                </a:extLst>
              </a:tr>
              <a:tr h="465457">
                <a:tc>
                  <a:txBody>
                    <a:bodyPr/>
                    <a:lstStyle/>
                    <a:p>
                      <a:pPr>
                        <a:buNone/>
                      </a:pPr>
                      <a:r>
                        <a:rPr lang="en-IN" sz="1600" b="1">
                          <a:latin typeface="Times New Roman" panose="02020603050405020304" pitchFamily="18" charset="0"/>
                          <a:cs typeface="Times New Roman" panose="02020603050405020304" pitchFamily="18" charset="0"/>
                        </a:rPr>
                        <a:t>Standard Charge - Constant Voltage</a:t>
                      </a:r>
                      <a:endParaRPr lang="en-IN" sz="160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4.2 V</a:t>
                      </a:r>
                    </a:p>
                  </a:txBody>
                  <a:tcPr marL="80307" marR="80307" marT="40154" marB="40154" anchor="ctr"/>
                </a:tc>
                <a:extLst>
                  <a:ext uri="{0D108BD9-81ED-4DB2-BD59-A6C34878D82A}">
                    <a16:rowId xmlns:a16="http://schemas.microsoft.com/office/drawing/2014/main" val="2914950410"/>
                  </a:ext>
                </a:extLst>
              </a:tr>
              <a:tr h="465457">
                <a:tc>
                  <a:txBody>
                    <a:bodyPr/>
                    <a:lstStyle/>
                    <a:p>
                      <a:pPr>
                        <a:buNone/>
                      </a:pPr>
                      <a:r>
                        <a:rPr lang="en-IN" sz="1600" b="1">
                          <a:latin typeface="Times New Roman" panose="02020603050405020304" pitchFamily="18" charset="0"/>
                          <a:cs typeface="Times New Roman" panose="02020603050405020304" pitchFamily="18" charset="0"/>
                        </a:rPr>
                        <a:t>Standard Charge - Cut-off Current</a:t>
                      </a:r>
                      <a:endParaRPr lang="en-IN" sz="160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100 mA</a:t>
                      </a:r>
                    </a:p>
                  </a:txBody>
                  <a:tcPr marL="80307" marR="80307" marT="40154" marB="40154" anchor="ctr"/>
                </a:tc>
                <a:extLst>
                  <a:ext uri="{0D108BD9-81ED-4DB2-BD59-A6C34878D82A}">
                    <a16:rowId xmlns:a16="http://schemas.microsoft.com/office/drawing/2014/main" val="2078465012"/>
                  </a:ext>
                </a:extLst>
              </a:tr>
              <a:tr h="334819">
                <a:tc>
                  <a:txBody>
                    <a:bodyPr/>
                    <a:lstStyle/>
                    <a:p>
                      <a:pPr>
                        <a:buNone/>
                      </a:pPr>
                      <a:r>
                        <a:rPr lang="en-IN" sz="1600" b="1">
                          <a:latin typeface="Times New Roman" panose="02020603050405020304" pitchFamily="18" charset="0"/>
                          <a:cs typeface="Times New Roman" panose="02020603050405020304" pitchFamily="18" charset="0"/>
                        </a:rPr>
                        <a:t>Maximum Charge Current</a:t>
                      </a:r>
                      <a:endParaRPr lang="en-IN" sz="160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6.0 A</a:t>
                      </a:r>
                    </a:p>
                  </a:txBody>
                  <a:tcPr marL="80307" marR="80307" marT="40154" marB="40154" anchor="ctr"/>
                </a:tc>
                <a:extLst>
                  <a:ext uri="{0D108BD9-81ED-4DB2-BD59-A6C34878D82A}">
                    <a16:rowId xmlns:a16="http://schemas.microsoft.com/office/drawing/2014/main" val="2655207968"/>
                  </a:ext>
                </a:extLst>
              </a:tr>
              <a:tr h="334819">
                <a:tc>
                  <a:txBody>
                    <a:bodyPr/>
                    <a:lstStyle/>
                    <a:p>
                      <a:pPr>
                        <a:buNone/>
                      </a:pPr>
                      <a:r>
                        <a:rPr lang="en-IN" sz="1600" b="1">
                          <a:latin typeface="Times New Roman" panose="02020603050405020304" pitchFamily="18" charset="0"/>
                          <a:cs typeface="Times New Roman" panose="02020603050405020304" pitchFamily="18" charset="0"/>
                        </a:rPr>
                        <a:t>Discharge Cut-off Voltage</a:t>
                      </a:r>
                      <a:endParaRPr lang="en-IN" sz="160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2.5 V</a:t>
                      </a:r>
                    </a:p>
                  </a:txBody>
                  <a:tcPr marL="80307" marR="80307" marT="40154" marB="40154" anchor="ctr"/>
                </a:tc>
                <a:extLst>
                  <a:ext uri="{0D108BD9-81ED-4DB2-BD59-A6C34878D82A}">
                    <a16:rowId xmlns:a16="http://schemas.microsoft.com/office/drawing/2014/main" val="2604781545"/>
                  </a:ext>
                </a:extLst>
              </a:tr>
              <a:tr h="586687">
                <a:tc>
                  <a:txBody>
                    <a:bodyPr/>
                    <a:lstStyle/>
                    <a:p>
                      <a:pPr>
                        <a:buNone/>
                      </a:pPr>
                      <a:r>
                        <a:rPr lang="en-IN" sz="1600" b="1">
                          <a:latin typeface="Times New Roman" panose="02020603050405020304" pitchFamily="18" charset="0"/>
                          <a:cs typeface="Times New Roman" panose="02020603050405020304" pitchFamily="18" charset="0"/>
                        </a:rPr>
                        <a:t>Maximum Discharge Current (Continuous)</a:t>
                      </a:r>
                      <a:endParaRPr lang="en-IN" sz="1600">
                        <a:latin typeface="Times New Roman" panose="02020603050405020304" pitchFamily="18" charset="0"/>
                        <a:cs typeface="Times New Roman" panose="02020603050405020304" pitchFamily="18" charset="0"/>
                      </a:endParaRPr>
                    </a:p>
                  </a:txBody>
                  <a:tcPr marL="80307" marR="80307" marT="40154" marB="40154" anchor="ctr"/>
                </a:tc>
                <a:tc>
                  <a:txBody>
                    <a:bodyPr/>
                    <a:lstStyle/>
                    <a:p>
                      <a:pPr algn="ctr">
                        <a:buNone/>
                      </a:pPr>
                      <a:r>
                        <a:rPr lang="en-IN" sz="1600" dirty="0">
                          <a:latin typeface="Times New Roman" panose="02020603050405020304" pitchFamily="18" charset="0"/>
                          <a:cs typeface="Times New Roman" panose="02020603050405020304" pitchFamily="18" charset="0"/>
                        </a:rPr>
                        <a:t>45 A</a:t>
                      </a:r>
                    </a:p>
                  </a:txBody>
                  <a:tcPr marL="80307" marR="80307" marT="40154" marB="40154" anchor="ctr"/>
                </a:tc>
                <a:extLst>
                  <a:ext uri="{0D108BD9-81ED-4DB2-BD59-A6C34878D82A}">
                    <a16:rowId xmlns:a16="http://schemas.microsoft.com/office/drawing/2014/main" val="831346238"/>
                  </a:ext>
                </a:extLst>
              </a:tr>
              <a:tr h="423986">
                <a:tc>
                  <a:txBody>
                    <a:bodyPr/>
                    <a:lstStyle/>
                    <a:p>
                      <a:pPr>
                        <a:buNone/>
                      </a:pPr>
                      <a:r>
                        <a:rPr lang="en-IN" b="1" dirty="0">
                          <a:latin typeface="Times New Roman" panose="02020603050405020304" pitchFamily="18" charset="0"/>
                          <a:cs typeface="Times New Roman" panose="02020603050405020304" pitchFamily="18" charset="0"/>
                        </a:rPr>
                        <a:t>Operating Temperature (Charge)</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dirty="0">
                          <a:latin typeface="Times New Roman" panose="02020603050405020304" pitchFamily="18" charset="0"/>
                          <a:cs typeface="Times New Roman" panose="02020603050405020304" pitchFamily="18" charset="0"/>
                        </a:rPr>
                        <a:t>0°C to 60°C</a:t>
                      </a:r>
                    </a:p>
                  </a:txBody>
                  <a:tcPr anchor="ctr"/>
                </a:tc>
                <a:extLst>
                  <a:ext uri="{0D108BD9-81ED-4DB2-BD59-A6C34878D82A}">
                    <a16:rowId xmlns:a16="http://schemas.microsoft.com/office/drawing/2014/main" val="1824392990"/>
                  </a:ext>
                </a:extLst>
              </a:tr>
              <a:tr h="661152">
                <a:tc>
                  <a:txBody>
                    <a:bodyPr/>
                    <a:lstStyle/>
                    <a:p>
                      <a:pPr>
                        <a:buNone/>
                      </a:pPr>
                      <a:r>
                        <a:rPr lang="en-IN" b="1" dirty="0">
                          <a:latin typeface="Times New Roman" panose="02020603050405020304" pitchFamily="18" charset="0"/>
                          <a:cs typeface="Times New Roman" panose="02020603050405020304" pitchFamily="18" charset="0"/>
                        </a:rPr>
                        <a:t>Operating Temperature (Discharge)</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dirty="0">
                          <a:latin typeface="Times New Roman" panose="02020603050405020304" pitchFamily="18" charset="0"/>
                          <a:cs typeface="Times New Roman" panose="02020603050405020304" pitchFamily="18" charset="0"/>
                        </a:rPr>
                        <a:t>-40°C to 60°C</a:t>
                      </a:r>
                    </a:p>
                  </a:txBody>
                  <a:tcPr marL="80307" marR="80307" marT="40154" marB="40154" anchor="ctr"/>
                </a:tc>
                <a:extLst>
                  <a:ext uri="{0D108BD9-81ED-4DB2-BD59-A6C34878D82A}">
                    <a16:rowId xmlns:a16="http://schemas.microsoft.com/office/drawing/2014/main" val="722252192"/>
                  </a:ext>
                </a:extLst>
              </a:tr>
            </a:tbl>
          </a:graphicData>
        </a:graphic>
      </p:graphicFrame>
    </p:spTree>
    <p:extLst>
      <p:ext uri="{BB962C8B-B14F-4D97-AF65-F5344CB8AC3E}">
        <p14:creationId xmlns:p14="http://schemas.microsoft.com/office/powerpoint/2010/main" val="158263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5B4A0-06B6-C6D8-4C28-D0E36C4D57C5}"/>
              </a:ext>
            </a:extLst>
          </p:cNvPr>
          <p:cNvSpPr>
            <a:spLocks noGrp="1"/>
          </p:cNvSpPr>
          <p:nvPr>
            <p:ph type="ctrTitle"/>
          </p:nvPr>
        </p:nvSpPr>
        <p:spPr>
          <a:xfrm>
            <a:off x="152400" y="26503"/>
            <a:ext cx="8836758" cy="397566"/>
          </a:xfrm>
        </p:spPr>
        <p:txBody>
          <a:bodyPr>
            <a:noAutofit/>
          </a:bodyPr>
          <a:lstStyle/>
          <a:p>
            <a:r>
              <a:rPr lang="en-US" sz="2400" b="1" dirty="0">
                <a:latin typeface="Times New Roman" panose="02020603050405020304" pitchFamily="18" charset="0"/>
                <a:cs typeface="Times New Roman" panose="02020603050405020304" pitchFamily="18" charset="0"/>
              </a:rPr>
              <a:t>Working process</a:t>
            </a:r>
          </a:p>
        </p:txBody>
      </p:sp>
      <p:sp>
        <p:nvSpPr>
          <p:cNvPr id="3" name="Subtitle 2">
            <a:extLst>
              <a:ext uri="{FF2B5EF4-FFF2-40B4-BE49-F238E27FC236}">
                <a16:creationId xmlns:a16="http://schemas.microsoft.com/office/drawing/2014/main" id="{C38D5353-EC6A-319F-AC8A-570814EF050F}"/>
              </a:ext>
            </a:extLst>
          </p:cNvPr>
          <p:cNvSpPr>
            <a:spLocks noGrp="1"/>
          </p:cNvSpPr>
          <p:nvPr>
            <p:ph type="subTitle" idx="1"/>
          </p:nvPr>
        </p:nvSpPr>
        <p:spPr>
          <a:xfrm>
            <a:off x="152400" y="653361"/>
            <a:ext cx="8836758" cy="5780570"/>
          </a:xfrm>
        </p:spPr>
        <p:txBody>
          <a:bodyPr/>
          <a:lstStyle/>
          <a:p>
            <a:endParaRPr lang="en-US" dirty="0"/>
          </a:p>
        </p:txBody>
      </p:sp>
      <p:sp>
        <p:nvSpPr>
          <p:cNvPr id="4" name="Slide Number Placeholder 3">
            <a:extLst>
              <a:ext uri="{FF2B5EF4-FFF2-40B4-BE49-F238E27FC236}">
                <a16:creationId xmlns:a16="http://schemas.microsoft.com/office/drawing/2014/main" id="{38334C1E-5B53-0B06-14BF-0789392B8040}"/>
              </a:ext>
            </a:extLst>
          </p:cNvPr>
          <p:cNvSpPr>
            <a:spLocks noGrp="1"/>
          </p:cNvSpPr>
          <p:nvPr>
            <p:ph type="sldNum" sz="quarter" idx="12"/>
          </p:nvPr>
        </p:nvSpPr>
        <p:spPr/>
        <p:txBody>
          <a:bodyPr/>
          <a:lstStyle/>
          <a:p>
            <a:fld id="{974D6F18-1E43-4B37-903B-99F7EF8299C6}" type="slidenum">
              <a:rPr lang="en-US" smtClean="0"/>
              <a:pPr/>
              <a:t>9</a:t>
            </a:fld>
            <a:endParaRPr lang="en-US" dirty="0"/>
          </a:p>
        </p:txBody>
      </p:sp>
      <p:pic>
        <p:nvPicPr>
          <p:cNvPr id="6" name="Picture 5">
            <a:extLst>
              <a:ext uri="{FF2B5EF4-FFF2-40B4-BE49-F238E27FC236}">
                <a16:creationId xmlns:a16="http://schemas.microsoft.com/office/drawing/2014/main" id="{EC2A225B-EE2A-C7F1-3108-76C4BB1042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842" y="653362"/>
            <a:ext cx="8836758" cy="5780569"/>
          </a:xfrm>
          <a:prstGeom prst="rect">
            <a:avLst/>
          </a:prstGeom>
          <a:ln>
            <a:noFill/>
          </a:ln>
          <a:effectLst>
            <a:softEdge rad="112500"/>
          </a:effectLst>
        </p:spPr>
      </p:pic>
    </p:spTree>
    <p:extLst>
      <p:ext uri="{BB962C8B-B14F-4D97-AF65-F5344CB8AC3E}">
        <p14:creationId xmlns:p14="http://schemas.microsoft.com/office/powerpoint/2010/main" val="967552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Rectangle 2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47371" cy="6858000"/>
          </a:xfrm>
          <a:prstGeom prst="rect">
            <a:avLst/>
          </a:prstGeom>
          <a:solidFill>
            <a:srgbClr val="4B5B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54C582A1-E3B5-59BF-D15E-318B1C207546}"/>
              </a:ext>
            </a:extLst>
          </p:cNvPr>
          <p:cNvSpPr>
            <a:spLocks noGrp="1"/>
          </p:cNvSpPr>
          <p:nvPr>
            <p:ph type="title"/>
          </p:nvPr>
        </p:nvSpPr>
        <p:spPr>
          <a:xfrm>
            <a:off x="451532" y="2250610"/>
            <a:ext cx="2391675" cy="2354240"/>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nSpc>
                <a:spcPct val="90000"/>
              </a:lnSpc>
            </a:pPr>
            <a:r>
              <a:rPr lang="en-US" sz="2275" b="1" kern="1200" dirty="0">
                <a:solidFill>
                  <a:srgbClr val="FFFFFF"/>
                </a:solidFill>
                <a:latin typeface="Times New Roman" panose="02020603050405020304" pitchFamily="18" charset="0"/>
                <a:cs typeface="Times New Roman" panose="02020603050405020304" pitchFamily="18" charset="0"/>
              </a:rPr>
              <a:t>Block Diagram Of Cell</a:t>
            </a:r>
          </a:p>
        </p:txBody>
      </p:sp>
      <p:pic>
        <p:nvPicPr>
          <p:cNvPr id="6" name="Content Placeholder 5">
            <a:extLst>
              <a:ext uri="{FF2B5EF4-FFF2-40B4-BE49-F238E27FC236}">
                <a16:creationId xmlns:a16="http://schemas.microsoft.com/office/drawing/2014/main" id="{943F16E8-5169-17AD-234D-D12C21CACA5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62"/>
          <a:stretch>
            <a:fillRect/>
          </a:stretch>
        </p:blipFill>
        <p:spPr>
          <a:xfrm>
            <a:off x="2936760" y="958639"/>
            <a:ext cx="5965940" cy="490876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4" name="Slide Number Placeholder 3">
            <a:extLst>
              <a:ext uri="{FF2B5EF4-FFF2-40B4-BE49-F238E27FC236}">
                <a16:creationId xmlns:a16="http://schemas.microsoft.com/office/drawing/2014/main" id="{4BE68859-4477-B377-6189-E2510799EC9C}"/>
              </a:ext>
            </a:extLst>
          </p:cNvPr>
          <p:cNvSpPr>
            <a:spLocks noGrp="1"/>
          </p:cNvSpPr>
          <p:nvPr>
            <p:ph type="sldNum" sz="quarter" idx="12"/>
          </p:nvPr>
        </p:nvSpPr>
        <p:spPr>
          <a:xfrm>
            <a:off x="8482693" y="6473597"/>
            <a:ext cx="420007" cy="273844"/>
          </a:xfrm>
        </p:spPr>
        <p:txBody>
          <a:bodyPr vert="horz" lIns="91440" tIns="45720" rIns="91440" bIns="45720" rtlCol="0" anchor="ctr">
            <a:normAutofit/>
          </a:bodyPr>
          <a:lstStyle/>
          <a:p>
            <a:pPr>
              <a:spcAft>
                <a:spcPts val="600"/>
              </a:spcAft>
            </a:pPr>
            <a:fld id="{974D6F18-1E43-4B37-903B-99F7EF8299C6}" type="slidenum">
              <a:rPr lang="en-US" sz="1050">
                <a:solidFill>
                  <a:srgbClr val="898989"/>
                </a:solidFill>
              </a:rPr>
              <a:pPr>
                <a:spcAft>
                  <a:spcPts val="600"/>
                </a:spcAft>
              </a:pPr>
              <a:t>10</a:t>
            </a:fld>
            <a:endParaRPr lang="en-US" sz="1050">
              <a:solidFill>
                <a:srgbClr val="898989"/>
              </a:solidFill>
            </a:endParaRPr>
          </a:p>
        </p:txBody>
      </p:sp>
    </p:spTree>
    <p:extLst>
      <p:ext uri="{BB962C8B-B14F-4D97-AF65-F5344CB8AC3E}">
        <p14:creationId xmlns:p14="http://schemas.microsoft.com/office/powerpoint/2010/main" val="1917256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 y="-5"/>
            <a:ext cx="9144861"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ectangle 1"/>
          <p:cNvSpPr/>
          <p:nvPr/>
        </p:nvSpPr>
        <p:spPr>
          <a:xfrm>
            <a:off x="852777" y="548640"/>
            <a:ext cx="7437474" cy="118872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kern="1200" dirty="0">
                <a:solidFill>
                  <a:schemeClr val="tx1">
                    <a:lumMod val="85000"/>
                    <a:lumOff val="15000"/>
                  </a:schemeClr>
                </a:solidFill>
                <a:latin typeface="Times New Roman" panose="02020603050405020304" pitchFamily="18" charset="0"/>
                <a:ea typeface="+mj-ea"/>
                <a:cs typeface="Times New Roman" panose="02020603050405020304" pitchFamily="18" charset="0"/>
              </a:rPr>
              <a:t>Design &amp; Methodology</a:t>
            </a:r>
            <a:endParaRPr lang="en-US" sz="4400" kern="1200" dirty="0">
              <a:solidFill>
                <a:schemeClr val="tx1">
                  <a:lumMod val="85000"/>
                  <a:lumOff val="15000"/>
                </a:schemeClr>
              </a:solidFill>
              <a:latin typeface="Times New Roman" panose="02020603050405020304" pitchFamily="18" charset="0"/>
              <a:ea typeface="+mj-ea"/>
              <a:cs typeface="Times New Roman" panose="02020603050405020304" pitchFamily="18" charset="0"/>
            </a:endParaRPr>
          </a:p>
        </p:txBody>
      </p:sp>
      <p:sp>
        <p:nvSpPr>
          <p:cNvPr id="3" name="Rectangle 2"/>
          <p:cNvSpPr/>
          <p:nvPr/>
        </p:nvSpPr>
        <p:spPr>
          <a:xfrm>
            <a:off x="1468490" y="2431767"/>
            <a:ext cx="6207019" cy="3685156"/>
          </a:xfrm>
          <a:prstGeom prst="rect">
            <a:avLst/>
          </a:prstGeom>
        </p:spPr>
        <p:txBody>
          <a:bodyPr vert="horz" lIns="91440" tIns="45720" rIns="91440" bIns="45720" rtlCol="0" anchor="ctr">
            <a:normAutofit/>
          </a:bodyPr>
          <a:lstStyle/>
          <a:p>
            <a:pPr lvl="0" indent="-228600" fontAlgn="base">
              <a:lnSpc>
                <a:spcPct val="90000"/>
              </a:lnSpc>
              <a:spcBef>
                <a:spcPct val="0"/>
              </a:spcBef>
              <a:spcAft>
                <a:spcPts val="600"/>
              </a:spcAft>
              <a:buFont typeface="Arial" panose="020B0604020202020204" pitchFamily="34" charset="0"/>
              <a:buChar char="•"/>
            </a:pPr>
            <a:r>
              <a:rPr lang="en-US" altLang="en-US" sz="1700" b="1" dirty="0">
                <a:solidFill>
                  <a:schemeClr val="tx1">
                    <a:lumMod val="85000"/>
                    <a:lumOff val="15000"/>
                  </a:schemeClr>
                </a:solidFill>
                <a:latin typeface="Times New Roman" panose="02020603050405020304" pitchFamily="18" charset="0"/>
                <a:cs typeface="Times New Roman" panose="02020603050405020304" pitchFamily="18" charset="0"/>
              </a:rPr>
              <a:t>Cell Selection:</a:t>
            </a:r>
          </a:p>
          <a:p>
            <a:pPr lvl="1" indent="-228600" fontAlgn="base">
              <a:lnSpc>
                <a:spcPct val="90000"/>
              </a:lnSpc>
              <a:spcBef>
                <a:spcPct val="0"/>
              </a:spcBef>
              <a:spcAft>
                <a:spcPts val="600"/>
              </a:spcAft>
              <a:buFont typeface="Arial" panose="020B0604020202020204" pitchFamily="34" charset="0"/>
              <a:buChar char="•"/>
            </a:pPr>
            <a:r>
              <a:rPr lang="en-US" altLang="en-US" sz="1700" dirty="0">
                <a:solidFill>
                  <a:schemeClr val="tx1">
                    <a:lumMod val="85000"/>
                    <a:lumOff val="15000"/>
                  </a:schemeClr>
                </a:solidFill>
                <a:latin typeface="Times New Roman" panose="02020603050405020304" pitchFamily="18" charset="0"/>
                <a:cs typeface="Times New Roman" panose="02020603050405020304" pitchFamily="18" charset="0"/>
              </a:rPr>
              <a:t>Chosen based on energy density, discharge rate (C-rate), safety, and cost.</a:t>
            </a:r>
          </a:p>
          <a:p>
            <a:pPr lvl="0" indent="-228600" fontAlgn="base">
              <a:lnSpc>
                <a:spcPct val="90000"/>
              </a:lnSpc>
              <a:spcBef>
                <a:spcPct val="0"/>
              </a:spcBef>
              <a:spcAft>
                <a:spcPts val="600"/>
              </a:spcAft>
              <a:buFont typeface="Arial" panose="020B0604020202020204" pitchFamily="34" charset="0"/>
              <a:buChar char="•"/>
            </a:pPr>
            <a:r>
              <a:rPr lang="en-US" altLang="en-US" sz="1700" b="1" dirty="0">
                <a:solidFill>
                  <a:schemeClr val="tx1">
                    <a:lumMod val="85000"/>
                    <a:lumOff val="15000"/>
                  </a:schemeClr>
                </a:solidFill>
                <a:latin typeface="Times New Roman" panose="02020603050405020304" pitchFamily="18" charset="0"/>
                <a:cs typeface="Times New Roman" panose="02020603050405020304" pitchFamily="18" charset="0"/>
              </a:rPr>
              <a:t>Series-Parallel Configuration:</a:t>
            </a:r>
            <a:endParaRPr lang="en-US" altLang="en-US" sz="1700" dirty="0">
              <a:solidFill>
                <a:schemeClr val="tx1">
                  <a:lumMod val="85000"/>
                  <a:lumOff val="15000"/>
                </a:schemeClr>
              </a:solidFill>
              <a:latin typeface="Times New Roman" panose="02020603050405020304" pitchFamily="18" charset="0"/>
              <a:cs typeface="Times New Roman" panose="02020603050405020304" pitchFamily="18" charset="0"/>
            </a:endParaRPr>
          </a:p>
          <a:p>
            <a:pPr lvl="1" indent="-228600" fontAlgn="base">
              <a:lnSpc>
                <a:spcPct val="90000"/>
              </a:lnSpc>
              <a:spcBef>
                <a:spcPct val="0"/>
              </a:spcBef>
              <a:spcAft>
                <a:spcPts val="600"/>
              </a:spcAft>
              <a:buFont typeface="Arial" panose="020B0604020202020204" pitchFamily="34" charset="0"/>
              <a:buChar char="•"/>
            </a:pPr>
            <a:r>
              <a:rPr lang="en-US" altLang="en-US" sz="1700" dirty="0">
                <a:solidFill>
                  <a:schemeClr val="tx1">
                    <a:lumMod val="85000"/>
                    <a:lumOff val="15000"/>
                  </a:schemeClr>
                </a:solidFill>
                <a:latin typeface="Times New Roman" panose="02020603050405020304" pitchFamily="18" charset="0"/>
                <a:cs typeface="Times New Roman" panose="02020603050405020304" pitchFamily="18" charset="0"/>
              </a:rPr>
              <a:t>Series → to achieve 72V nominal voltage.</a:t>
            </a:r>
          </a:p>
          <a:p>
            <a:pPr lvl="1" indent="-228600" fontAlgn="base">
              <a:lnSpc>
                <a:spcPct val="90000"/>
              </a:lnSpc>
              <a:spcBef>
                <a:spcPct val="0"/>
              </a:spcBef>
              <a:spcAft>
                <a:spcPts val="600"/>
              </a:spcAft>
              <a:buFont typeface="Arial" panose="020B0604020202020204" pitchFamily="34" charset="0"/>
              <a:buChar char="•"/>
            </a:pPr>
            <a:r>
              <a:rPr lang="en-US" altLang="en-US" sz="1700" dirty="0">
                <a:solidFill>
                  <a:schemeClr val="tx1">
                    <a:lumMod val="85000"/>
                    <a:lumOff val="15000"/>
                  </a:schemeClr>
                </a:solidFill>
                <a:latin typeface="Times New Roman" panose="02020603050405020304" pitchFamily="18" charset="0"/>
                <a:cs typeface="Times New Roman" panose="02020603050405020304" pitchFamily="18" charset="0"/>
              </a:rPr>
              <a:t>Parallel → to increase capacity &amp; runtime.</a:t>
            </a:r>
          </a:p>
          <a:p>
            <a:pPr indent="-228600">
              <a:lnSpc>
                <a:spcPct val="90000"/>
              </a:lnSpc>
              <a:spcAft>
                <a:spcPts val="600"/>
              </a:spcAft>
              <a:buFont typeface="Arial" panose="020B0604020202020204" pitchFamily="34" charset="0"/>
              <a:buChar char="•"/>
            </a:pPr>
            <a:r>
              <a:rPr lang="en-US" sz="1700" b="1" dirty="0">
                <a:solidFill>
                  <a:schemeClr val="tx1">
                    <a:lumMod val="85000"/>
                    <a:lumOff val="15000"/>
                  </a:schemeClr>
                </a:solidFill>
                <a:latin typeface="Times New Roman" panose="02020603050405020304" pitchFamily="18" charset="0"/>
                <a:cs typeface="Times New Roman" panose="02020603050405020304" pitchFamily="18" charset="0"/>
              </a:rPr>
              <a:t>Thermal &amp; Safety Design:</a:t>
            </a:r>
            <a:endParaRPr lang="en-US" sz="17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799963" lvl="1" indent="-228600">
              <a:lnSpc>
                <a:spcPct val="90000"/>
              </a:lnSpc>
              <a:spcAft>
                <a:spcPts val="600"/>
              </a:spcAft>
              <a:buClr>
                <a:schemeClr val="tx1"/>
              </a:buClr>
              <a:buFont typeface="Arial" panose="020B0604020202020204" pitchFamily="34" charset="0"/>
              <a:buChar char="•"/>
            </a:pPr>
            <a:r>
              <a:rPr lang="en-US" sz="1700" dirty="0">
                <a:solidFill>
                  <a:schemeClr val="tx1">
                    <a:lumMod val="85000"/>
                    <a:lumOff val="15000"/>
                  </a:schemeClr>
                </a:solidFill>
                <a:latin typeface="Times New Roman" panose="02020603050405020304" pitchFamily="18" charset="0"/>
                <a:cs typeface="Times New Roman" panose="02020603050405020304" pitchFamily="18" charset="0"/>
              </a:rPr>
              <a:t>Heat dissipation materials, vents, insulation.</a:t>
            </a:r>
          </a:p>
          <a:p>
            <a:pPr marL="799963" lvl="1" indent="-228600">
              <a:lnSpc>
                <a:spcPct val="90000"/>
              </a:lnSpc>
              <a:spcAft>
                <a:spcPts val="600"/>
              </a:spcAft>
              <a:buClr>
                <a:schemeClr val="tx1"/>
              </a:buClr>
              <a:buFont typeface="Arial" panose="020B0604020202020204" pitchFamily="34" charset="0"/>
              <a:buChar char="•"/>
            </a:pPr>
            <a:r>
              <a:rPr lang="en-US" sz="1700" dirty="0">
                <a:solidFill>
                  <a:schemeClr val="tx1">
                    <a:lumMod val="85000"/>
                    <a:lumOff val="15000"/>
                  </a:schemeClr>
                </a:solidFill>
                <a:latin typeface="Times New Roman" panose="02020603050405020304" pitchFamily="18" charset="0"/>
                <a:cs typeface="Times New Roman" panose="02020603050405020304" pitchFamily="18" charset="0"/>
              </a:rPr>
              <a:t>Safety fuses and BMS for protection.</a:t>
            </a:r>
          </a:p>
          <a:p>
            <a:pPr indent="-228600">
              <a:lnSpc>
                <a:spcPct val="90000"/>
              </a:lnSpc>
              <a:spcAft>
                <a:spcPts val="600"/>
              </a:spcAft>
              <a:buFont typeface="Arial" panose="020B0604020202020204" pitchFamily="34" charset="0"/>
              <a:buChar char="•"/>
            </a:pPr>
            <a:r>
              <a:rPr lang="en-US" sz="1700" b="1" dirty="0">
                <a:solidFill>
                  <a:schemeClr val="tx1">
                    <a:lumMod val="85000"/>
                    <a:lumOff val="15000"/>
                  </a:schemeClr>
                </a:solidFill>
                <a:latin typeface="Times New Roman" panose="02020603050405020304" pitchFamily="18" charset="0"/>
                <a:cs typeface="Times New Roman" panose="02020603050405020304" pitchFamily="18" charset="0"/>
              </a:rPr>
              <a:t>Assembly Process:</a:t>
            </a:r>
            <a:endParaRPr lang="en-US" sz="17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799963" lvl="1" indent="-228600">
              <a:lnSpc>
                <a:spcPct val="90000"/>
              </a:lnSpc>
              <a:spcAft>
                <a:spcPts val="600"/>
              </a:spcAft>
              <a:buClr>
                <a:schemeClr val="tx1"/>
              </a:buClr>
              <a:buFont typeface="Arial" panose="020B0604020202020204" pitchFamily="34" charset="0"/>
              <a:buChar char="•"/>
            </a:pPr>
            <a:r>
              <a:rPr lang="en-US" sz="1700" dirty="0">
                <a:solidFill>
                  <a:schemeClr val="tx1">
                    <a:lumMod val="85000"/>
                    <a:lumOff val="15000"/>
                  </a:schemeClr>
                </a:solidFill>
                <a:latin typeface="Times New Roman" panose="02020603050405020304" pitchFamily="18" charset="0"/>
                <a:cs typeface="Times New Roman" panose="02020603050405020304" pitchFamily="18" charset="0"/>
              </a:rPr>
              <a:t>Mechanical structure design (modules + pack).</a:t>
            </a:r>
          </a:p>
          <a:p>
            <a:pPr marL="799963" lvl="1" indent="-228600">
              <a:lnSpc>
                <a:spcPct val="90000"/>
              </a:lnSpc>
              <a:spcAft>
                <a:spcPts val="600"/>
              </a:spcAft>
              <a:buClr>
                <a:schemeClr val="tx1"/>
              </a:buClr>
              <a:buFont typeface="Arial" panose="020B0604020202020204" pitchFamily="34" charset="0"/>
              <a:buChar char="•"/>
            </a:pPr>
            <a:r>
              <a:rPr lang="en-US" sz="1700" dirty="0">
                <a:solidFill>
                  <a:schemeClr val="tx1">
                    <a:lumMod val="85000"/>
                    <a:lumOff val="15000"/>
                  </a:schemeClr>
                </a:solidFill>
                <a:latin typeface="Times New Roman" panose="02020603050405020304" pitchFamily="18" charset="0"/>
                <a:cs typeface="Times New Roman" panose="02020603050405020304" pitchFamily="18" charset="0"/>
              </a:rPr>
              <a:t>Proper insulation and connection welding.</a:t>
            </a:r>
          </a:p>
        </p:txBody>
      </p:sp>
      <p:sp>
        <p:nvSpPr>
          <p:cNvPr id="5" name="Slide Number Placeholder 4"/>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974D6F18-1E43-4B37-903B-99F7EF8299C6}" type="slidenum">
              <a:rPr lang="en-US" sz="900"/>
              <a:pPr>
                <a:spcAft>
                  <a:spcPts val="600"/>
                </a:spcAft>
              </a:pPr>
              <a:t>11</a:t>
            </a:fld>
            <a:endParaRPr lang="en-US" sz="900"/>
          </a:p>
        </p:txBody>
      </p:sp>
    </p:spTree>
    <p:extLst>
      <p:ext uri="{BB962C8B-B14F-4D97-AF65-F5344CB8AC3E}">
        <p14:creationId xmlns:p14="http://schemas.microsoft.com/office/powerpoint/2010/main" val="1575171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Arc 3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4421221" y="479493"/>
            <a:ext cx="4094129" cy="1325563"/>
          </a:xfrm>
        </p:spPr>
        <p:txBody>
          <a:bodyPr>
            <a:normAutofit/>
          </a:bodyPr>
          <a:lstStyle/>
          <a:p>
            <a:r>
              <a:rPr lang="en-US" sz="2800" b="1" dirty="0">
                <a:latin typeface="Times New Roman" panose="02020603050405020304" pitchFamily="18" charset="0"/>
                <a:cs typeface="Times New Roman" panose="02020603050405020304" pitchFamily="18" charset="0"/>
              </a:rPr>
              <a:t>Objectives</a:t>
            </a:r>
            <a:endParaRPr lang="en-US" sz="2400" dirty="0"/>
          </a:p>
        </p:txBody>
      </p:sp>
      <p:sp>
        <p:nvSpPr>
          <p:cNvPr id="33" name="Freeform: Shape 3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Picture 8" descr="A machine with wheels and parts&#10;&#10;AI-generated content may be incorrect.">
            <a:extLst>
              <a:ext uri="{FF2B5EF4-FFF2-40B4-BE49-F238E27FC236}">
                <a16:creationId xmlns:a16="http://schemas.microsoft.com/office/drawing/2014/main" id="{2298C690-FF9C-84E1-D00E-B08E62FB25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7386" y="2336399"/>
            <a:ext cx="3583036" cy="21594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Slide Number Placeholder 3"/>
          <p:cNvSpPr>
            <a:spLocks noGrp="1"/>
          </p:cNvSpPr>
          <p:nvPr>
            <p:ph type="sldNum" sz="quarter" idx="12"/>
          </p:nvPr>
        </p:nvSpPr>
        <p:spPr>
          <a:xfrm>
            <a:off x="6457950" y="6356350"/>
            <a:ext cx="2057400" cy="365125"/>
          </a:xfrm>
        </p:spPr>
        <p:txBody>
          <a:bodyPr>
            <a:normAutofit/>
          </a:bodyPr>
          <a:lstStyle/>
          <a:p>
            <a:pPr>
              <a:spcAft>
                <a:spcPts val="600"/>
              </a:spcAft>
            </a:pPr>
            <a:fld id="{974D6F18-1E43-4B37-903B-99F7EF8299C6}" type="slidenum">
              <a:rPr lang="en-US" smtClean="0"/>
              <a:pPr>
                <a:spcAft>
                  <a:spcPts val="600"/>
                </a:spcAft>
              </a:pPr>
              <a:t>12</a:t>
            </a:fld>
            <a:endParaRPr lang="en-US"/>
          </a:p>
        </p:txBody>
      </p:sp>
      <p:graphicFrame>
        <p:nvGraphicFramePr>
          <p:cNvPr id="24" name="Content Placeholder 2">
            <a:extLst>
              <a:ext uri="{FF2B5EF4-FFF2-40B4-BE49-F238E27FC236}">
                <a16:creationId xmlns:a16="http://schemas.microsoft.com/office/drawing/2014/main" id="{C08F107A-BCB9-FC40-2CA8-5670EF5A9795}"/>
              </a:ext>
            </a:extLst>
          </p:cNvPr>
          <p:cNvGraphicFramePr>
            <a:graphicFrameLocks noGrp="1"/>
          </p:cNvGraphicFramePr>
          <p:nvPr>
            <p:ph idx="1"/>
            <p:extLst>
              <p:ext uri="{D42A27DB-BD31-4B8C-83A1-F6EECF244321}">
                <p14:modId xmlns:p14="http://schemas.microsoft.com/office/powerpoint/2010/main" val="2623539850"/>
              </p:ext>
            </p:extLst>
          </p:nvPr>
        </p:nvGraphicFramePr>
        <p:xfrm>
          <a:off x="4421221" y="1984443"/>
          <a:ext cx="4094129" cy="4192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9860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42713" y="-1142284"/>
            <a:ext cx="6858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125298" y="-161647"/>
            <a:ext cx="4894564"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A3D4A33-4720-B3ED-7920-444DFD23045F}"/>
              </a:ext>
            </a:extLst>
          </p:cNvPr>
          <p:cNvPicPr>
            <a:picLocks noChangeAspect="1"/>
          </p:cNvPicPr>
          <p:nvPr/>
        </p:nvPicPr>
        <p:blipFill>
          <a:blip r:embed="rId2">
            <a:extLst>
              <a:ext uri="{28A0092B-C50C-407E-A947-70E740481C1C}">
                <a14:useLocalDpi xmlns:a14="http://schemas.microsoft.com/office/drawing/2010/main" val="0"/>
              </a:ext>
            </a:extLst>
          </a:blip>
          <a:srcRect r="5011" b="1"/>
          <a:stretch>
            <a:fillRect/>
          </a:stretch>
        </p:blipFill>
        <p:spPr>
          <a:xfrm>
            <a:off x="126023" y="304799"/>
            <a:ext cx="8865577" cy="622986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2" name="Slide Number Placeholder 1">
            <a:extLst>
              <a:ext uri="{FF2B5EF4-FFF2-40B4-BE49-F238E27FC236}">
                <a16:creationId xmlns:a16="http://schemas.microsoft.com/office/drawing/2014/main" id="{E384B404-0CD9-1E70-B717-13B5F18AD1BB}"/>
              </a:ext>
            </a:extLst>
          </p:cNvPr>
          <p:cNvSpPr>
            <a:spLocks noGrp="1"/>
          </p:cNvSpPr>
          <p:nvPr>
            <p:ph type="sldNum" sz="quarter" idx="12"/>
          </p:nvPr>
        </p:nvSpPr>
        <p:spPr>
          <a:xfrm>
            <a:off x="8778240" y="6455664"/>
            <a:ext cx="336042" cy="365125"/>
          </a:xfrm>
        </p:spPr>
        <p:txBody>
          <a:bodyPr>
            <a:normAutofit/>
          </a:bodyPr>
          <a:lstStyle/>
          <a:p>
            <a:pPr>
              <a:spcAft>
                <a:spcPts val="600"/>
              </a:spcAft>
            </a:pPr>
            <a:fld id="{974D6F18-1E43-4B37-903B-99F7EF8299C6}" type="slidenum">
              <a:rPr lang="en-US" sz="1000">
                <a:solidFill>
                  <a:srgbClr val="FFFFFF"/>
                </a:solidFill>
              </a:rPr>
              <a:pPr>
                <a:spcAft>
                  <a:spcPts val="600"/>
                </a:spcAft>
              </a:pPr>
              <a:t>13</a:t>
            </a:fld>
            <a:endParaRPr lang="en-US" sz="1000">
              <a:solidFill>
                <a:srgbClr val="FFFFFF"/>
              </a:solidFill>
            </a:endParaRPr>
          </a:p>
        </p:txBody>
      </p:sp>
    </p:spTree>
    <p:extLst>
      <p:ext uri="{BB962C8B-B14F-4D97-AF65-F5344CB8AC3E}">
        <p14:creationId xmlns:p14="http://schemas.microsoft.com/office/powerpoint/2010/main" val="1300021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D4EBC-E799-36A5-62C0-149DA8191512}"/>
              </a:ext>
            </a:extLst>
          </p:cNvPr>
          <p:cNvSpPr>
            <a:spLocks noGrp="1"/>
          </p:cNvSpPr>
          <p:nvPr>
            <p:ph type="ctrTitle"/>
          </p:nvPr>
        </p:nvSpPr>
        <p:spPr>
          <a:xfrm>
            <a:off x="609600" y="20782"/>
            <a:ext cx="7467600" cy="618549"/>
          </a:xfrm>
        </p:spPr>
        <p:txBody>
          <a:bodyPr>
            <a:normAutofit/>
          </a:bodyPr>
          <a:lstStyle/>
          <a:p>
            <a:pPr algn="l"/>
            <a:r>
              <a:rPr lang="en-US" sz="2400" b="1" dirty="0">
                <a:latin typeface="Times New Roman" panose="02020603050405020304" pitchFamily="18" charset="0"/>
                <a:cs typeface="Times New Roman" panose="02020603050405020304" pitchFamily="18" charset="0"/>
              </a:rPr>
              <a:t>Daly Smart Active Balance BMS Connection Layout</a:t>
            </a:r>
          </a:p>
        </p:txBody>
      </p:sp>
      <p:sp>
        <p:nvSpPr>
          <p:cNvPr id="3" name="Subtitle 2">
            <a:extLst>
              <a:ext uri="{FF2B5EF4-FFF2-40B4-BE49-F238E27FC236}">
                <a16:creationId xmlns:a16="http://schemas.microsoft.com/office/drawing/2014/main" id="{15538A54-41CE-F173-FF37-0880A9E478A8}"/>
              </a:ext>
            </a:extLst>
          </p:cNvPr>
          <p:cNvSpPr>
            <a:spLocks noGrp="1"/>
          </p:cNvSpPr>
          <p:nvPr>
            <p:ph type="subTitle" idx="1"/>
          </p:nvPr>
        </p:nvSpPr>
        <p:spPr>
          <a:xfrm>
            <a:off x="685800" y="755073"/>
            <a:ext cx="7467600" cy="5347854"/>
          </a:xfrm>
        </p:spPr>
        <p:txBody>
          <a:bodyPr/>
          <a:lstStyle/>
          <a:p>
            <a:pPr algn="l"/>
            <a:endParaRPr lang="en-US" dirty="0"/>
          </a:p>
        </p:txBody>
      </p:sp>
      <p:sp>
        <p:nvSpPr>
          <p:cNvPr id="4" name="Slide Number Placeholder 3">
            <a:extLst>
              <a:ext uri="{FF2B5EF4-FFF2-40B4-BE49-F238E27FC236}">
                <a16:creationId xmlns:a16="http://schemas.microsoft.com/office/drawing/2014/main" id="{35A08272-9D49-18CE-CFE8-7B8C2C9AF458}"/>
              </a:ext>
            </a:extLst>
          </p:cNvPr>
          <p:cNvSpPr>
            <a:spLocks noGrp="1"/>
          </p:cNvSpPr>
          <p:nvPr>
            <p:ph type="sldNum" sz="quarter" idx="12"/>
          </p:nvPr>
        </p:nvSpPr>
        <p:spPr/>
        <p:txBody>
          <a:bodyPr/>
          <a:lstStyle/>
          <a:p>
            <a:fld id="{974D6F18-1E43-4B37-903B-99F7EF8299C6}" type="slidenum">
              <a:rPr lang="en-US" smtClean="0"/>
              <a:pPr/>
              <a:t>14</a:t>
            </a:fld>
            <a:endParaRPr lang="en-US" dirty="0"/>
          </a:p>
        </p:txBody>
      </p:sp>
      <p:pic>
        <p:nvPicPr>
          <p:cNvPr id="6" name="Picture 5">
            <a:extLst>
              <a:ext uri="{FF2B5EF4-FFF2-40B4-BE49-F238E27FC236}">
                <a16:creationId xmlns:a16="http://schemas.microsoft.com/office/drawing/2014/main" id="{88FDEC1F-8D4A-EDCD-5C42-9840B46FF3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755073"/>
            <a:ext cx="7467600" cy="53917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20327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E74AF-C2A8-8880-9C2C-C1BC5C834E5B}"/>
              </a:ext>
            </a:extLst>
          </p:cNvPr>
          <p:cNvSpPr>
            <a:spLocks noGrp="1"/>
          </p:cNvSpPr>
          <p:nvPr>
            <p:ph type="title"/>
          </p:nvPr>
        </p:nvSpPr>
        <p:spPr>
          <a:xfrm>
            <a:off x="457200" y="274638"/>
            <a:ext cx="8229600" cy="457199"/>
          </a:xfrm>
        </p:spPr>
        <p:txBody>
          <a:bodyPr>
            <a:normAutofit fontScale="90000"/>
          </a:bodyPr>
          <a:lstStyle/>
          <a:p>
            <a:pPr algn="l"/>
            <a:r>
              <a:rPr lang="en-US" sz="2800" b="1" dirty="0">
                <a:latin typeface="Times New Roman" panose="02020603050405020304" pitchFamily="18" charset="0"/>
                <a:cs typeface="Times New Roman" panose="02020603050405020304" pitchFamily="18" charset="0"/>
              </a:rPr>
              <a:t>Advantage and Disadvantages</a:t>
            </a:r>
          </a:p>
        </p:txBody>
      </p:sp>
      <p:sp>
        <p:nvSpPr>
          <p:cNvPr id="3" name="Content Placeholder 2">
            <a:extLst>
              <a:ext uri="{FF2B5EF4-FFF2-40B4-BE49-F238E27FC236}">
                <a16:creationId xmlns:a16="http://schemas.microsoft.com/office/drawing/2014/main" id="{45F2C1BC-A461-7FC7-AB72-6BBBC2F45C7E}"/>
              </a:ext>
            </a:extLst>
          </p:cNvPr>
          <p:cNvSpPr>
            <a:spLocks noGrp="1"/>
          </p:cNvSpPr>
          <p:nvPr>
            <p:ph sz="half" idx="1"/>
          </p:nvPr>
        </p:nvSpPr>
        <p:spPr>
          <a:xfrm>
            <a:off x="457200" y="914399"/>
            <a:ext cx="4038600" cy="5624513"/>
          </a:xfrm>
        </p:spPr>
        <p:txBody>
          <a:bodyPr/>
          <a:lstStyle/>
          <a:p>
            <a:r>
              <a:rPr lang="en-US" sz="2400" b="1" dirty="0">
                <a:latin typeface="Times New Roman" panose="02020603050405020304" pitchFamily="18" charset="0"/>
                <a:cs typeface="Times New Roman" panose="02020603050405020304" pitchFamily="18" charset="0"/>
              </a:rPr>
              <a:t>Advantages</a:t>
            </a:r>
          </a:p>
          <a:p>
            <a:pPr algn="just">
              <a:buFont typeface="+mj-lt"/>
              <a:buAutoNum type="arabicPeriod"/>
            </a:pPr>
            <a:r>
              <a:rPr lang="en-US" sz="1800" b="1" dirty="0">
                <a:latin typeface="Times New Roman" panose="02020603050405020304" pitchFamily="18" charset="0"/>
                <a:cs typeface="Times New Roman" panose="02020603050405020304" pitchFamily="18" charset="0"/>
              </a:rPr>
              <a:t>Real-Time Monitoring:</a:t>
            </a:r>
            <a:r>
              <a:rPr lang="en-US" sz="1800" dirty="0">
                <a:latin typeface="Times New Roman" panose="02020603050405020304" pitchFamily="18" charset="0"/>
                <a:cs typeface="Times New Roman" panose="02020603050405020304" pitchFamily="18" charset="0"/>
              </a:rPr>
              <a:t> Tracks individual cell voltages, pack temperature, and SoC/SoH via Bluetooth, app, or PC.</a:t>
            </a:r>
          </a:p>
          <a:p>
            <a:pPr algn="just">
              <a:buFont typeface="+mj-lt"/>
              <a:buAutoNum type="arabicPeriod"/>
            </a:pPr>
            <a:r>
              <a:rPr lang="en-US" sz="1800" b="1" dirty="0">
                <a:latin typeface="Times New Roman" panose="02020603050405020304" pitchFamily="18" charset="0"/>
                <a:cs typeface="Times New Roman" panose="02020603050405020304" pitchFamily="18" charset="0"/>
              </a:rPr>
              <a:t>Intelligent Active Balancing:</a:t>
            </a:r>
            <a:r>
              <a:rPr lang="en-US" sz="1800" dirty="0">
                <a:latin typeface="Times New Roman" panose="02020603050405020304" pitchFamily="18" charset="0"/>
                <a:cs typeface="Times New Roman" panose="02020603050405020304" pitchFamily="18" charset="0"/>
              </a:rPr>
              <a:t> Dynamically transfers energy from high cells to low cells instead of wasting it as heat.</a:t>
            </a:r>
          </a:p>
          <a:p>
            <a:pPr algn="just">
              <a:buFont typeface="+mj-lt"/>
              <a:buAutoNum type="arabicPeriod"/>
            </a:pPr>
            <a:r>
              <a:rPr lang="en-US" sz="1800" b="1" dirty="0">
                <a:latin typeface="Times New Roman" panose="02020603050405020304" pitchFamily="18" charset="0"/>
                <a:cs typeface="Times New Roman" panose="02020603050405020304" pitchFamily="18" charset="0"/>
              </a:rPr>
              <a:t>Customizable Safety Logic:</a:t>
            </a:r>
            <a:r>
              <a:rPr lang="en-US" sz="1800" dirty="0">
                <a:latin typeface="Times New Roman" panose="02020603050405020304" pitchFamily="18" charset="0"/>
                <a:cs typeface="Times New Roman" panose="02020603050405020304" pitchFamily="18" charset="0"/>
              </a:rPr>
              <a:t> Allows you to change protection thresholds (voltage, current, temperature cut-offs) via software.</a:t>
            </a:r>
          </a:p>
          <a:p>
            <a:pPr algn="just">
              <a:buFont typeface="+mj-lt"/>
              <a:buAutoNum type="arabicPeriod"/>
            </a:pPr>
            <a:r>
              <a:rPr lang="en-US" sz="1800" b="1" dirty="0">
                <a:latin typeface="Times New Roman" panose="02020603050405020304" pitchFamily="18" charset="0"/>
                <a:cs typeface="Times New Roman" panose="02020603050405020304" pitchFamily="18" charset="0"/>
              </a:rPr>
              <a:t>Data Logging &amp; Diagnostics:</a:t>
            </a:r>
            <a:r>
              <a:rPr lang="en-US" sz="1800" dirty="0">
                <a:latin typeface="Times New Roman" panose="02020603050405020304" pitchFamily="18" charset="0"/>
                <a:cs typeface="Times New Roman" panose="02020603050405020304" pitchFamily="18" charset="0"/>
              </a:rPr>
              <a:t> Records history and telemetry to help troubleshoot faults and predict battery life.</a:t>
            </a:r>
          </a:p>
        </p:txBody>
      </p:sp>
      <p:sp>
        <p:nvSpPr>
          <p:cNvPr id="4" name="Content Placeholder 3">
            <a:extLst>
              <a:ext uri="{FF2B5EF4-FFF2-40B4-BE49-F238E27FC236}">
                <a16:creationId xmlns:a16="http://schemas.microsoft.com/office/drawing/2014/main" id="{5CE44606-F777-24C2-35C9-2382BF0A7E79}"/>
              </a:ext>
            </a:extLst>
          </p:cNvPr>
          <p:cNvSpPr>
            <a:spLocks noGrp="1"/>
          </p:cNvSpPr>
          <p:nvPr>
            <p:ph sz="half" idx="2"/>
          </p:nvPr>
        </p:nvSpPr>
        <p:spPr>
          <a:xfrm>
            <a:off x="4648200" y="914398"/>
            <a:ext cx="4038600" cy="5624513"/>
          </a:xfrm>
        </p:spPr>
        <p:txBody>
          <a:bodyPr/>
          <a:lstStyle/>
          <a:p>
            <a:r>
              <a:rPr lang="en-US" sz="2400" b="1" dirty="0">
                <a:latin typeface="Times New Roman" panose="02020603050405020304" pitchFamily="18" charset="0"/>
                <a:cs typeface="Times New Roman" panose="02020603050405020304" pitchFamily="18" charset="0"/>
              </a:rPr>
              <a:t>Disadvantages</a:t>
            </a:r>
          </a:p>
          <a:p>
            <a:pPr algn="just">
              <a:buFont typeface="+mj-lt"/>
              <a:buAutoNum type="arabicPeriod"/>
            </a:pPr>
            <a:r>
              <a:rPr lang="en-US" sz="1800" b="1" dirty="0">
                <a:latin typeface="Times New Roman" panose="02020603050405020304" pitchFamily="18" charset="0"/>
                <a:cs typeface="Times New Roman" panose="02020603050405020304" pitchFamily="18" charset="0"/>
              </a:rPr>
              <a:t>Higher Cost:</a:t>
            </a:r>
            <a:r>
              <a:rPr lang="en-US" sz="1800" dirty="0">
                <a:latin typeface="Times New Roman" panose="02020603050405020304" pitchFamily="18" charset="0"/>
                <a:cs typeface="Times New Roman" panose="02020603050405020304" pitchFamily="18" charset="0"/>
              </a:rPr>
              <a:t> Significantly more expensive upfront due to microprocessors and advanced communication modules.</a:t>
            </a:r>
          </a:p>
          <a:p>
            <a:pPr algn="just">
              <a:buFont typeface="+mj-lt"/>
              <a:buAutoNum type="arabicPeriod"/>
            </a:pPr>
            <a:r>
              <a:rPr lang="en-US" sz="1800" b="1" dirty="0">
                <a:latin typeface="Times New Roman" panose="02020603050405020304" pitchFamily="18" charset="0"/>
                <a:cs typeface="Times New Roman" panose="02020603050405020304" pitchFamily="18" charset="0"/>
              </a:rPr>
              <a:t>Higher Power Consumption:</a:t>
            </a:r>
            <a:r>
              <a:rPr lang="en-US" sz="1800" dirty="0">
                <a:latin typeface="Times New Roman" panose="02020603050405020304" pitchFamily="18" charset="0"/>
                <a:cs typeface="Times New Roman" panose="02020603050405020304" pitchFamily="18" charset="0"/>
              </a:rPr>
              <a:t> The Bluetooth, screen, and processors draw more idle/parasitic power from the battery pack.</a:t>
            </a:r>
          </a:p>
          <a:p>
            <a:pPr algn="just">
              <a:buFont typeface="+mj-lt"/>
              <a:buAutoNum type="arabicPeriod"/>
            </a:pPr>
            <a:r>
              <a:rPr lang="en-US" sz="1800" b="1" dirty="0">
                <a:latin typeface="Times New Roman" panose="02020603050405020304" pitchFamily="18" charset="0"/>
                <a:cs typeface="Times New Roman" panose="02020603050405020304" pitchFamily="18" charset="0"/>
              </a:rPr>
              <a:t>Increased Complexity:</a:t>
            </a:r>
            <a:r>
              <a:rPr lang="en-US" sz="1800" dirty="0">
                <a:latin typeface="Times New Roman" panose="02020603050405020304" pitchFamily="18" charset="0"/>
                <a:cs typeface="Times New Roman" panose="02020603050405020304" pitchFamily="18" charset="0"/>
              </a:rPr>
              <a:t> More components and sophisticated integration mean more potential points of failure</a:t>
            </a:r>
          </a:p>
          <a:p>
            <a:pPr algn="just">
              <a:buFont typeface="+mj-lt"/>
              <a:buAutoNum type="arabicPeriod"/>
            </a:pPr>
            <a:r>
              <a:rPr lang="en-US" sz="1800" b="1" dirty="0">
                <a:latin typeface="Times New Roman" panose="02020603050405020304" pitchFamily="18" charset="0"/>
                <a:cs typeface="Times New Roman" panose="02020603050405020304" pitchFamily="18" charset="0"/>
              </a:rPr>
              <a:t>Software Dependency:</a:t>
            </a:r>
            <a:r>
              <a:rPr lang="en-US" sz="1800" dirty="0">
                <a:latin typeface="Times New Roman" panose="02020603050405020304" pitchFamily="18" charset="0"/>
                <a:cs typeface="Times New Roman" panose="02020603050405020304" pitchFamily="18" charset="0"/>
              </a:rPr>
              <a:t> Relies heavily on stable firmware and apps; prone to bugs, glitches, or connection drops.</a:t>
            </a:r>
          </a:p>
        </p:txBody>
      </p:sp>
      <p:sp>
        <p:nvSpPr>
          <p:cNvPr id="5" name="Slide Number Placeholder 4">
            <a:extLst>
              <a:ext uri="{FF2B5EF4-FFF2-40B4-BE49-F238E27FC236}">
                <a16:creationId xmlns:a16="http://schemas.microsoft.com/office/drawing/2014/main" id="{286BCC22-6558-ED30-D275-46639853F879}"/>
              </a:ext>
            </a:extLst>
          </p:cNvPr>
          <p:cNvSpPr>
            <a:spLocks noGrp="1"/>
          </p:cNvSpPr>
          <p:nvPr>
            <p:ph type="sldNum" sz="quarter" idx="12"/>
          </p:nvPr>
        </p:nvSpPr>
        <p:spPr/>
        <p:txBody>
          <a:bodyPr/>
          <a:lstStyle/>
          <a:p>
            <a:fld id="{974D6F18-1E43-4B37-903B-99F7EF8299C6}" type="slidenum">
              <a:rPr lang="en-US" smtClean="0"/>
              <a:pPr/>
              <a:t>15</a:t>
            </a:fld>
            <a:endParaRPr lang="en-US" dirty="0"/>
          </a:p>
        </p:txBody>
      </p:sp>
    </p:spTree>
    <p:extLst>
      <p:ext uri="{BB962C8B-B14F-4D97-AF65-F5344CB8AC3E}">
        <p14:creationId xmlns:p14="http://schemas.microsoft.com/office/powerpoint/2010/main" val="3544911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318" y="216692"/>
            <a:ext cx="8793892" cy="1384995"/>
          </a:xfrm>
          <a:prstGeom prst="rect">
            <a:avLst/>
          </a:prstGeom>
        </p:spPr>
        <p:txBody>
          <a:bodyPr wrap="square">
            <a:spAutoFit/>
          </a:bodyPr>
          <a:lstStyle/>
          <a:p>
            <a:pPr lvl="0" algn="just" eaLnBrk="0" fontAlgn="base" hangingPunct="0">
              <a:spcBef>
                <a:spcPct val="0"/>
              </a:spcBef>
              <a:spcAft>
                <a:spcPct val="0"/>
              </a:spcAft>
            </a:pPr>
            <a:r>
              <a:rPr lang="en-US" altLang="en-US" sz="2400" b="1" dirty="0">
                <a:latin typeface="Times New Roman" panose="02020603050405020304" pitchFamily="18" charset="0"/>
                <a:cs typeface="Times New Roman" panose="02020603050405020304" pitchFamily="18" charset="0"/>
              </a:rPr>
              <a:t> Battery Management System (BMS):</a:t>
            </a:r>
          </a:p>
          <a:p>
            <a:pPr lvl="1"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Monitors </a:t>
            </a:r>
            <a:r>
              <a:rPr lang="en-US" sz="2000" dirty="0">
                <a:latin typeface="Times New Roman" panose="02020603050405020304" pitchFamily="18" charset="0"/>
                <a:cs typeface="Times New Roman" panose="02020603050405020304" pitchFamily="18" charset="0"/>
              </a:rPr>
              <a:t>Continuously checks voltage, current, temperature of each cell.</a:t>
            </a:r>
            <a:endParaRPr lang="en-US" altLang="en-US" sz="2000" dirty="0">
              <a:latin typeface="Times New Roman" panose="02020603050405020304" pitchFamily="18" charset="0"/>
              <a:cs typeface="Times New Roman" panose="02020603050405020304" pitchFamily="18" charset="0"/>
            </a:endParaRPr>
          </a:p>
          <a:p>
            <a:pPr lvl="1" indent="-342900" algn="just"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Ensures safety against overcharging, over-discharging, and overheating.</a:t>
            </a:r>
          </a:p>
          <a:p>
            <a:pPr lvl="1" indent="-342900" algn="just" eaLnBrk="0" fontAlgn="base" hangingPunct="0">
              <a:spcBef>
                <a:spcPct val="0"/>
              </a:spcBef>
              <a:spcAft>
                <a:spcPct val="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Protection Features </a:t>
            </a:r>
            <a:endParaRPr lang="en-US" altLang="en-US" sz="2000" dirty="0">
              <a:latin typeface="Times New Roman" panose="02020603050405020304" pitchFamily="18" charset="0"/>
              <a:cs typeface="Times New Roman" panose="02020603050405020304" pitchFamily="18" charset="0"/>
            </a:endParaRPr>
          </a:p>
        </p:txBody>
      </p:sp>
      <p:sp>
        <p:nvSpPr>
          <p:cNvPr id="3" name="Rectangle 13">
            <a:extLst>
              <a:ext uri="{FF2B5EF4-FFF2-40B4-BE49-F238E27FC236}">
                <a16:creationId xmlns:a16="http://schemas.microsoft.com/office/drawing/2014/main" id="{4FB686A6-7461-DA53-21E9-275F12CEE5BD}"/>
              </a:ext>
            </a:extLst>
          </p:cNvPr>
          <p:cNvSpPr>
            <a:spLocks noChangeArrowheads="1"/>
          </p:cNvSpPr>
          <p:nvPr/>
        </p:nvSpPr>
        <p:spPr bwMode="auto">
          <a:xfrm>
            <a:off x="2836437" y="1246046"/>
            <a:ext cx="59436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Overvoltage protection (cell&gt;4.2V).</a:t>
            </a: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Undervoltage protection (cell &lt; 2.5V).</a:t>
            </a: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Overcurrent and short-circuit protection.</a:t>
            </a: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Thermal cutoff if temperature exceeds safe limits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6" name="Rectangle 5"/>
          <p:cNvSpPr/>
          <p:nvPr/>
        </p:nvSpPr>
        <p:spPr>
          <a:xfrm>
            <a:off x="-228600" y="4153092"/>
            <a:ext cx="8534400" cy="400110"/>
          </a:xfrm>
          <a:prstGeom prst="rect">
            <a:avLst/>
          </a:prstGeom>
        </p:spPr>
        <p:txBody>
          <a:bodyPr wrap="square">
            <a:spAutoFit/>
          </a:bodyPr>
          <a:lstStyle/>
          <a:p>
            <a:pPr lvl="1">
              <a:buClr>
                <a:schemeClr val="tx1"/>
              </a:buClr>
            </a:pPr>
            <a:r>
              <a:rPr lang="en-US" sz="2000" dirty="0">
                <a:latin typeface="Times New Roman" panose="02020603050405020304" pitchFamily="18" charset="0"/>
                <a:cs typeface="Times New Roman" panose="02020603050405020304" pitchFamily="18" charset="0"/>
              </a:rPr>
              <a:t>.</a:t>
            </a:r>
          </a:p>
        </p:txBody>
      </p:sp>
      <p:sp>
        <p:nvSpPr>
          <p:cNvPr id="7" name="Slide Number Placeholder 6"/>
          <p:cNvSpPr>
            <a:spLocks noGrp="1"/>
          </p:cNvSpPr>
          <p:nvPr>
            <p:ph type="sldNum" sz="quarter" idx="12"/>
          </p:nvPr>
        </p:nvSpPr>
        <p:spPr/>
        <p:txBody>
          <a:bodyPr/>
          <a:lstStyle/>
          <a:p>
            <a:fld id="{974D6F18-1E43-4B37-903B-99F7EF8299C6}" type="slidenum">
              <a:rPr lang="en-US" smtClean="0"/>
              <a:pPr/>
              <a:t>16</a:t>
            </a:fld>
            <a:endParaRPr lang="en-US" dirty="0"/>
          </a:p>
        </p:txBody>
      </p:sp>
      <p:pic>
        <p:nvPicPr>
          <p:cNvPr id="11" name="Picture 10" descr="A close up of a circuit board&#10;&#10;AI-generated content may be incorrect.">
            <a:extLst>
              <a:ext uri="{FF2B5EF4-FFF2-40B4-BE49-F238E27FC236}">
                <a16:creationId xmlns:a16="http://schemas.microsoft.com/office/drawing/2014/main" id="{79F8F009-C14C-9A10-BF90-166E990C8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71238"/>
            <a:ext cx="9144000" cy="4086762"/>
          </a:xfrm>
          <a:prstGeom prst="rect">
            <a:avLst/>
          </a:prstGeom>
          <a:ln>
            <a:solidFill>
              <a:schemeClr val="tx1"/>
            </a:solidFill>
          </a:ln>
        </p:spPr>
      </p:pic>
    </p:spTree>
    <p:extLst>
      <p:ext uri="{BB962C8B-B14F-4D97-AF65-F5344CB8AC3E}">
        <p14:creationId xmlns:p14="http://schemas.microsoft.com/office/powerpoint/2010/main" val="1355390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534400" cy="4924425"/>
          </a:xfrm>
          <a:prstGeom prst="rect">
            <a:avLst/>
          </a:prstGeom>
        </p:spPr>
        <p:txBody>
          <a:bodyPr wrap="square">
            <a:spAutoFit/>
          </a:bodyPr>
          <a:lstStyle/>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Cooling Methods:</a:t>
            </a:r>
            <a:endParaRPr lang="en-US" sz="22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Air Cooling</a:t>
            </a:r>
            <a:r>
              <a:rPr lang="en-US" sz="2000" dirty="0">
                <a:latin typeface="Times New Roman" panose="02020603050405020304" pitchFamily="18" charset="0"/>
                <a:cs typeface="Times New Roman" panose="02020603050405020304" pitchFamily="18" charset="0"/>
              </a:rPr>
              <a:t> (simpler, cheaper):</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Fans or ducts blow air over the pack.</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Used in small/medium power packs.</a:t>
            </a:r>
          </a:p>
          <a:p>
            <a:pPr lvl="1" algn="just"/>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Liquid Cooling</a:t>
            </a:r>
            <a:r>
              <a:rPr lang="en-US" sz="20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(advanced, efficient):</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Coolant circulates through channels near cells.</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Maintains tighter temperature control.</a:t>
            </a:r>
          </a:p>
          <a:p>
            <a:pPr marL="800100" lvl="1"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Common in racing and high-performance Ev’s.</a:t>
            </a:r>
          </a:p>
          <a:p>
            <a:pPr lvl="1" algn="just"/>
            <a:endParaRPr lang="en-US" sz="20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For a 72V racing battery pack, liquid cooling is often preferred due to high discharge rates.</a:t>
            </a:r>
          </a:p>
          <a:p>
            <a:pPr lvl="2" algn="just"/>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Cell Configuration:</a:t>
            </a:r>
            <a:r>
              <a:rPr lang="en-US" sz="2000" dirty="0">
                <a:latin typeface="Times New Roman" panose="02020603050405020304" pitchFamily="18" charset="0"/>
                <a:cs typeface="Times New Roman" panose="02020603050405020304" pitchFamily="18" charset="0"/>
              </a:rPr>
              <a:t> Multiple cells connected in series &amp; parallel to achieve required voltage &amp; capacity.</a:t>
            </a:r>
          </a:p>
        </p:txBody>
      </p:sp>
      <p:sp>
        <p:nvSpPr>
          <p:cNvPr id="3" name="Slide Number Placeholder 2"/>
          <p:cNvSpPr>
            <a:spLocks noGrp="1"/>
          </p:cNvSpPr>
          <p:nvPr>
            <p:ph type="sldNum" sz="quarter" idx="12"/>
          </p:nvPr>
        </p:nvSpPr>
        <p:spPr/>
        <p:txBody>
          <a:bodyPr/>
          <a:lstStyle/>
          <a:p>
            <a:fld id="{974D6F18-1E43-4B37-903B-99F7EF8299C6}" type="slidenum">
              <a:rPr lang="en-US" smtClean="0"/>
              <a:pPr/>
              <a:t>17</a:t>
            </a:fld>
            <a:endParaRPr lang="en-US" dirty="0"/>
          </a:p>
        </p:txBody>
      </p:sp>
    </p:spTree>
    <p:extLst>
      <p:ext uri="{BB962C8B-B14F-4D97-AF65-F5344CB8AC3E}">
        <p14:creationId xmlns:p14="http://schemas.microsoft.com/office/powerpoint/2010/main" val="1038181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62158-AD45-8782-A981-CFDED677E44A}"/>
              </a:ext>
            </a:extLst>
          </p:cNvPr>
          <p:cNvSpPr>
            <a:spLocks noGrp="1"/>
          </p:cNvSpPr>
          <p:nvPr>
            <p:ph type="title"/>
          </p:nvPr>
        </p:nvSpPr>
        <p:spPr>
          <a:xfrm>
            <a:off x="840699" y="687480"/>
            <a:ext cx="5605629" cy="994172"/>
          </a:xfrm>
        </p:spPr>
        <p:txBody>
          <a:bodyPr>
            <a:normAutofit/>
          </a:bodyPr>
          <a:lstStyle/>
          <a:p>
            <a:r>
              <a:rPr lang="en-IN" sz="3850" b="1">
                <a:latin typeface="Times New Roman" panose="02020603050405020304" pitchFamily="18" charset="0"/>
                <a:cs typeface="Times New Roman" panose="02020603050405020304" pitchFamily="18" charset="0"/>
              </a:rPr>
              <a:t>Cooling Method Used</a:t>
            </a:r>
          </a:p>
        </p:txBody>
      </p:sp>
      <p:sp>
        <p:nvSpPr>
          <p:cNvPr id="3" name="Content Placeholder 2">
            <a:extLst>
              <a:ext uri="{FF2B5EF4-FFF2-40B4-BE49-F238E27FC236}">
                <a16:creationId xmlns:a16="http://schemas.microsoft.com/office/drawing/2014/main" id="{6291BF8D-3F50-02AD-38D5-878B97998521}"/>
              </a:ext>
            </a:extLst>
          </p:cNvPr>
          <p:cNvSpPr>
            <a:spLocks noGrp="1"/>
          </p:cNvSpPr>
          <p:nvPr>
            <p:ph idx="1"/>
          </p:nvPr>
        </p:nvSpPr>
        <p:spPr>
          <a:xfrm>
            <a:off x="852321" y="1681652"/>
            <a:ext cx="5033221" cy="4871547"/>
          </a:xfrm>
        </p:spPr>
        <p:txBody>
          <a:bodyPr anchor="ctr">
            <a:normAutofit/>
          </a:bodyPr>
          <a:lstStyle/>
          <a:p>
            <a:pPr marL="0" indent="0" algn="just">
              <a:lnSpc>
                <a:spcPct val="90000"/>
              </a:lnSpc>
              <a:buNone/>
            </a:pPr>
            <a:r>
              <a:rPr lang="en-IN" sz="1800" b="1" dirty="0">
                <a:latin typeface="Times New Roman" panose="02020603050405020304" pitchFamily="18" charset="0"/>
                <a:cs typeface="Times New Roman" panose="02020603050405020304" pitchFamily="18" charset="0"/>
              </a:rPr>
              <a:t>Cold Plate Liquid Cooling:</a:t>
            </a:r>
          </a:p>
          <a:p>
            <a:pPr algn="just">
              <a:lnSpc>
                <a:spcPct val="9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Cold Plate Liquid Cooling is a battery cooling technique in which coolant flows through an aluminum cold plate placed near the battery cells. The coolant absorbs heat from the cells and transfers it to a radiator, helping maintain a safe operating temperature and improving battery performance.</a:t>
            </a:r>
          </a:p>
          <a:p>
            <a:pPr algn="just">
              <a:lnSpc>
                <a:spcPct val="9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Advantages </a:t>
            </a:r>
          </a:p>
          <a:p>
            <a:pPr algn="just">
              <a:lnSpc>
                <a:spcPct val="90000"/>
              </a:lnSpc>
            </a:pPr>
            <a:r>
              <a:rPr lang="en-US" sz="1800" dirty="0">
                <a:latin typeface="Times New Roman" panose="02020603050405020304" pitchFamily="18" charset="0"/>
                <a:cs typeface="Times New Roman" panose="02020603050405020304" pitchFamily="18" charset="0"/>
              </a:rPr>
              <a:t>Efficient heat removal</a:t>
            </a:r>
          </a:p>
          <a:p>
            <a:pPr algn="just">
              <a:lnSpc>
                <a:spcPct val="90000"/>
              </a:lnSpc>
            </a:pPr>
            <a:r>
              <a:rPr lang="en-US" sz="1800" dirty="0">
                <a:latin typeface="Times New Roman" panose="02020603050405020304" pitchFamily="18" charset="0"/>
                <a:cs typeface="Times New Roman" panose="02020603050405020304" pitchFamily="18" charset="0"/>
              </a:rPr>
              <a:t>Maintains uniform cell temperature</a:t>
            </a:r>
          </a:p>
          <a:p>
            <a:pPr algn="just">
              <a:lnSpc>
                <a:spcPct val="90000"/>
              </a:lnSpc>
            </a:pPr>
            <a:r>
              <a:rPr lang="en-US" sz="1800" dirty="0">
                <a:latin typeface="Times New Roman" panose="02020603050405020304" pitchFamily="18" charset="0"/>
                <a:cs typeface="Times New Roman" panose="02020603050405020304" pitchFamily="18" charset="0"/>
              </a:rPr>
              <a:t>Improves battery life</a:t>
            </a:r>
          </a:p>
          <a:p>
            <a:pPr algn="just">
              <a:lnSpc>
                <a:spcPct val="90000"/>
              </a:lnSpc>
            </a:pPr>
            <a:r>
              <a:rPr lang="en-US" sz="1800" dirty="0">
                <a:latin typeface="Times New Roman" panose="02020603050405020304" pitchFamily="18" charset="0"/>
                <a:cs typeface="Times New Roman" panose="02020603050405020304" pitchFamily="18" charset="0"/>
              </a:rPr>
              <a:t>Increases safety</a:t>
            </a:r>
          </a:p>
          <a:p>
            <a:pPr algn="just">
              <a:lnSpc>
                <a:spcPct val="90000"/>
              </a:lnSpc>
            </a:pPr>
            <a:r>
              <a:rPr lang="en-US" sz="1800" dirty="0">
                <a:latin typeface="Times New Roman" panose="02020603050405020304" pitchFamily="18" charset="0"/>
                <a:cs typeface="Times New Roman" panose="02020603050405020304" pitchFamily="18" charset="0"/>
              </a:rPr>
              <a:t> Suitable for high-current and racing battery packs</a:t>
            </a:r>
          </a:p>
          <a:p>
            <a:pPr marL="0" indent="0">
              <a:lnSpc>
                <a:spcPct val="90000"/>
              </a:lnSpc>
              <a:buNone/>
            </a:pPr>
            <a:endParaRPr lang="en-IN" sz="160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Oval 12">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Graphic 7" descr="Thermometer">
            <a:extLst>
              <a:ext uri="{FF2B5EF4-FFF2-40B4-BE49-F238E27FC236}">
                <a16:creationId xmlns:a16="http://schemas.microsoft.com/office/drawing/2014/main" id="{B14ADABA-3399-E917-2352-BFC447E1CF0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
        <p:nvSpPr>
          <p:cNvPr id="4" name="Slide Number Placeholder 3">
            <a:extLst>
              <a:ext uri="{FF2B5EF4-FFF2-40B4-BE49-F238E27FC236}">
                <a16:creationId xmlns:a16="http://schemas.microsoft.com/office/drawing/2014/main" id="{36DA1F24-E801-1BFC-9829-82ADF67A7BED}"/>
              </a:ext>
            </a:extLst>
          </p:cNvPr>
          <p:cNvSpPr>
            <a:spLocks noGrp="1"/>
          </p:cNvSpPr>
          <p:nvPr>
            <p:ph type="sldNum" sz="quarter" idx="12"/>
          </p:nvPr>
        </p:nvSpPr>
        <p:spPr>
          <a:xfrm>
            <a:off x="7576075" y="6415760"/>
            <a:ext cx="759278" cy="273844"/>
          </a:xfrm>
        </p:spPr>
        <p:txBody>
          <a:bodyPr>
            <a:normAutofit/>
          </a:bodyPr>
          <a:lstStyle/>
          <a:p>
            <a:pPr>
              <a:spcAft>
                <a:spcPts val="600"/>
              </a:spcAft>
            </a:pPr>
            <a:fld id="{974D6F18-1E43-4B37-903B-99F7EF8299C6}" type="slidenum">
              <a:rPr lang="en-US" sz="920">
                <a:solidFill>
                  <a:srgbClr val="FFFFFF"/>
                </a:solidFill>
              </a:rPr>
              <a:pPr>
                <a:spcAft>
                  <a:spcPts val="600"/>
                </a:spcAft>
              </a:pPr>
              <a:t>18</a:t>
            </a:fld>
            <a:endParaRPr lang="en-US" sz="920">
              <a:solidFill>
                <a:srgbClr val="FFFFFF"/>
              </a:solidFill>
            </a:endParaRPr>
          </a:p>
        </p:txBody>
      </p:sp>
    </p:spTree>
    <p:extLst>
      <p:ext uri="{BB962C8B-B14F-4D97-AF65-F5344CB8AC3E}">
        <p14:creationId xmlns:p14="http://schemas.microsoft.com/office/powerpoint/2010/main" val="3232156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366712" y="160173"/>
            <a:ext cx="3938487" cy="100647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400" b="1" dirty="0">
                <a:latin typeface="+mj-lt"/>
                <a:ea typeface="+mj-ea"/>
                <a:cs typeface="+mj-cs"/>
              </a:rPr>
              <a:t>Testing &amp; Performance Evaluation</a:t>
            </a:r>
            <a:endParaRPr lang="en-US" sz="2400" dirty="0">
              <a:latin typeface="+mj-lt"/>
              <a:ea typeface="+mj-ea"/>
              <a:cs typeface="+mj-cs"/>
            </a:endParaRPr>
          </a:p>
        </p:txBody>
      </p:sp>
      <p:sp>
        <p:nvSpPr>
          <p:cNvPr id="4" name="Text Placeholder 3">
            <a:extLst>
              <a:ext uri="{FF2B5EF4-FFF2-40B4-BE49-F238E27FC236}">
                <a16:creationId xmlns:a16="http://schemas.microsoft.com/office/drawing/2014/main" id="{2AC52264-AA49-04DD-59A9-D4EC19E41BA3}"/>
              </a:ext>
            </a:extLst>
          </p:cNvPr>
          <p:cNvSpPr txBox="1">
            <a:spLocks/>
          </p:cNvSpPr>
          <p:nvPr/>
        </p:nvSpPr>
        <p:spPr>
          <a:xfrm>
            <a:off x="603598" y="1228993"/>
            <a:ext cx="3464715" cy="535083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228600">
              <a:lnSpc>
                <a:spcPct val="90000"/>
              </a:lnSpc>
            </a:pPr>
            <a:r>
              <a:rPr lang="en-US" sz="2000" b="1" dirty="0">
                <a:latin typeface="Times New Roman" panose="02020603050405020304" pitchFamily="18" charset="0"/>
                <a:cs typeface="Times New Roman" panose="02020603050405020304" pitchFamily="18" charset="0"/>
              </a:rPr>
              <a:t>Parameters Tested:</a:t>
            </a:r>
            <a:endParaRPr lang="en-US" sz="2000" dirty="0">
              <a:latin typeface="Times New Roman" panose="02020603050405020304" pitchFamily="18" charset="0"/>
              <a:cs typeface="Times New Roman" panose="02020603050405020304" pitchFamily="18" charset="0"/>
            </a:endParaRPr>
          </a:p>
          <a:p>
            <a:pPr marL="799963" lvl="1" indent="-228600">
              <a:lnSpc>
                <a:spcPct val="9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Voltage &amp; capacity under load.</a:t>
            </a:r>
          </a:p>
          <a:p>
            <a:pPr marL="799963" lvl="1" indent="-228600">
              <a:lnSpc>
                <a:spcPct val="9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Charging/discharging efficiency.</a:t>
            </a:r>
          </a:p>
          <a:p>
            <a:pPr marL="799963" lvl="1" indent="-228600">
              <a:lnSpc>
                <a:spcPct val="9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Temperature rise during operation.</a:t>
            </a:r>
          </a:p>
          <a:p>
            <a:pPr indent="-228600">
              <a:lnSpc>
                <a:spcPct val="90000"/>
              </a:lnSpc>
            </a:pPr>
            <a:r>
              <a:rPr lang="en-US" sz="2000" b="1" dirty="0">
                <a:latin typeface="Times New Roman" panose="02020603050405020304" pitchFamily="18" charset="0"/>
                <a:cs typeface="Times New Roman" panose="02020603050405020304" pitchFamily="18" charset="0"/>
              </a:rPr>
              <a:t>Observations must obtain:</a:t>
            </a:r>
            <a:endParaRPr lang="en-US" sz="2000" dirty="0">
              <a:latin typeface="Times New Roman" panose="02020603050405020304" pitchFamily="18" charset="0"/>
              <a:cs typeface="Times New Roman" panose="02020603050405020304" pitchFamily="18" charset="0"/>
            </a:endParaRPr>
          </a:p>
          <a:p>
            <a:pPr marL="799963" lvl="1" indent="-228600">
              <a:lnSpc>
                <a:spcPct val="9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Stable performance under racing loads.</a:t>
            </a:r>
          </a:p>
          <a:p>
            <a:pPr marL="799963" lvl="1" indent="-228600">
              <a:lnSpc>
                <a:spcPct val="9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BMS effectively manages safety.</a:t>
            </a:r>
          </a:p>
          <a:p>
            <a:pPr marL="799963" lvl="1" indent="-228600">
              <a:lnSpc>
                <a:spcPct val="9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Thermal management helps prevent overheating.</a:t>
            </a:r>
          </a:p>
          <a:p>
            <a:pPr indent="-228600">
              <a:lnSpc>
                <a:spcPct val="90000"/>
              </a:lnSpc>
            </a:pPr>
            <a:r>
              <a:rPr lang="en-US" sz="2000" b="1" dirty="0">
                <a:latin typeface="Times New Roman" panose="02020603050405020304" pitchFamily="18" charset="0"/>
                <a:cs typeface="Times New Roman" panose="02020603050405020304" pitchFamily="18" charset="0"/>
              </a:rPr>
              <a:t>Software Used:</a:t>
            </a:r>
          </a:p>
          <a:p>
            <a:pPr marL="0" indent="0">
              <a:lnSpc>
                <a:spcPct val="90000"/>
              </a:lnSpc>
              <a:buNone/>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Battery again tester</a:t>
            </a:r>
          </a:p>
        </p:txBody>
      </p:sp>
      <p:pic>
        <p:nvPicPr>
          <p:cNvPr id="6" name="Picture 5" descr="A diagram of a test process&#10;&#10;AI-generated content may be incorrect.">
            <a:extLst>
              <a:ext uri="{FF2B5EF4-FFF2-40B4-BE49-F238E27FC236}">
                <a16:creationId xmlns:a16="http://schemas.microsoft.com/office/drawing/2014/main" id="{18E5FECC-2A39-6FBE-0B17-20B170BED02A}"/>
              </a:ext>
            </a:extLst>
          </p:cNvPr>
          <p:cNvPicPr>
            <a:picLocks noChangeAspect="1"/>
          </p:cNvPicPr>
          <p:nvPr/>
        </p:nvPicPr>
        <p:blipFill>
          <a:blip r:embed="rId2">
            <a:extLst>
              <a:ext uri="{28A0092B-C50C-407E-A947-70E740481C1C}">
                <a14:useLocalDpi xmlns:a14="http://schemas.microsoft.com/office/drawing/2010/main" val="0"/>
              </a:ext>
            </a:extLst>
          </a:blip>
          <a:srcRect l="2862" r="1593"/>
          <a:stretch>
            <a:fillRect/>
          </a:stretch>
        </p:blipFill>
        <p:spPr>
          <a:xfrm>
            <a:off x="4671911" y="10"/>
            <a:ext cx="4472089" cy="6857990"/>
          </a:xfrm>
          <a:prstGeom prst="rect">
            <a:avLst/>
          </a:prstGeom>
          <a:ln>
            <a:noFill/>
          </a:ln>
          <a:effectLst>
            <a:softEdge rad="112500"/>
          </a:effectLst>
        </p:spPr>
      </p:pic>
      <p:sp>
        <p:nvSpPr>
          <p:cNvPr id="5" name="Slide Number Placeholder 4"/>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defRPr/>
            </a:pPr>
            <a:fld id="{974D6F18-1E43-4B37-903B-99F7EF8299C6}" type="slidenum">
              <a:rPr lang="en-US" smtClean="0">
                <a:solidFill>
                  <a:srgbClr val="FFFFFF"/>
                </a:solidFill>
                <a:latin typeface="Calibri" panose="020F0502020204030204"/>
              </a:rPr>
              <a:pPr>
                <a:spcAft>
                  <a:spcPts val="600"/>
                </a:spcAft>
                <a:defRPr/>
              </a:pPr>
              <a:t>19</a:t>
            </a:fld>
            <a:endParaRPr lang="en-US">
              <a:solidFill>
                <a:srgbClr val="FFFFFF"/>
              </a:solidFill>
              <a:latin typeface="Calibri" panose="020F0502020204030204"/>
            </a:endParaRPr>
          </a:p>
        </p:txBody>
      </p:sp>
    </p:spTree>
    <p:extLst>
      <p:ext uri="{BB962C8B-B14F-4D97-AF65-F5344CB8AC3E}">
        <p14:creationId xmlns:p14="http://schemas.microsoft.com/office/powerpoint/2010/main" val="158177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A5436-5A05-AE4B-86DF-151FA6CD33AD}"/>
              </a:ext>
            </a:extLst>
          </p:cNvPr>
          <p:cNvSpPr>
            <a:spLocks noGrp="1"/>
          </p:cNvSpPr>
          <p:nvPr>
            <p:ph type="title"/>
          </p:nvPr>
        </p:nvSpPr>
        <p:spPr>
          <a:xfrm>
            <a:off x="457200" y="136525"/>
            <a:ext cx="8229600" cy="549275"/>
          </a:xfrm>
        </p:spPr>
        <p:txBody>
          <a:bodyPr>
            <a:normAutofit/>
          </a:bodyPr>
          <a:lstStyle/>
          <a:p>
            <a:r>
              <a:rPr lang="en-IN" sz="2400" b="1" dirty="0">
                <a:latin typeface="Times New Roman" panose="02020603050405020304" pitchFamily="18" charset="0"/>
                <a:cs typeface="Times New Roman" panose="02020603050405020304" pitchFamily="18" charset="0"/>
              </a:rPr>
              <a:t>Battery Testing</a:t>
            </a:r>
          </a:p>
        </p:txBody>
      </p:sp>
      <p:pic>
        <p:nvPicPr>
          <p:cNvPr id="6" name="Content Placeholder 5">
            <a:extLst>
              <a:ext uri="{FF2B5EF4-FFF2-40B4-BE49-F238E27FC236}">
                <a16:creationId xmlns:a16="http://schemas.microsoft.com/office/drawing/2014/main" id="{4D742F06-81C9-0FC9-74F8-693F1AC6A3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838200"/>
            <a:ext cx="7543800" cy="5883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Slide Number Placeholder 3">
            <a:extLst>
              <a:ext uri="{FF2B5EF4-FFF2-40B4-BE49-F238E27FC236}">
                <a16:creationId xmlns:a16="http://schemas.microsoft.com/office/drawing/2014/main" id="{1CA07EBB-4229-25F4-F7F7-0197F0CD3056}"/>
              </a:ext>
            </a:extLst>
          </p:cNvPr>
          <p:cNvSpPr>
            <a:spLocks noGrp="1"/>
          </p:cNvSpPr>
          <p:nvPr>
            <p:ph type="sldNum" sz="quarter" idx="12"/>
          </p:nvPr>
        </p:nvSpPr>
        <p:spPr/>
        <p:txBody>
          <a:bodyPr/>
          <a:lstStyle/>
          <a:p>
            <a:fld id="{974D6F18-1E43-4B37-903B-99F7EF8299C6}" type="slidenum">
              <a:rPr lang="en-US" smtClean="0"/>
              <a:pPr/>
              <a:t>20</a:t>
            </a:fld>
            <a:endParaRPr lang="en-US" dirty="0"/>
          </a:p>
        </p:txBody>
      </p:sp>
    </p:spTree>
    <p:extLst>
      <p:ext uri="{BB962C8B-B14F-4D97-AF65-F5344CB8AC3E}">
        <p14:creationId xmlns:p14="http://schemas.microsoft.com/office/powerpoint/2010/main" val="4120108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EF1A-D760-D46B-5CE0-8CC79BE4C12A}"/>
              </a:ext>
            </a:extLst>
          </p:cNvPr>
          <p:cNvSpPr txBox="1">
            <a:spLocks/>
          </p:cNvSpPr>
          <p:nvPr/>
        </p:nvSpPr>
        <p:spPr>
          <a:xfrm>
            <a:off x="126920" y="159799"/>
            <a:ext cx="8596668" cy="754601"/>
          </a:xfrm>
          <a:prstGeom prst="rect">
            <a:avLst/>
          </a:prstGeom>
        </p:spPr>
        <p:txBody>
          <a:bodyP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sz="2700" b="1" dirty="0"/>
            </a:br>
            <a:endParaRPr lang="en-US" sz="2700" dirty="0"/>
          </a:p>
        </p:txBody>
      </p:sp>
      <p:sp>
        <p:nvSpPr>
          <p:cNvPr id="3" name="Title 1">
            <a:extLst>
              <a:ext uri="{FF2B5EF4-FFF2-40B4-BE49-F238E27FC236}">
                <a16:creationId xmlns:a16="http://schemas.microsoft.com/office/drawing/2014/main" id="{531EEF1A-D760-D46B-5CE0-8CC79BE4C12A}"/>
              </a:ext>
            </a:extLst>
          </p:cNvPr>
          <p:cNvSpPr txBox="1">
            <a:spLocks/>
          </p:cNvSpPr>
          <p:nvPr/>
        </p:nvSpPr>
        <p:spPr>
          <a:xfrm>
            <a:off x="126920" y="159799"/>
            <a:ext cx="8596668" cy="860400"/>
          </a:xfrm>
          <a:prstGeom prst="rect">
            <a:avLst/>
          </a:prstGeom>
        </p:spPr>
        <p:txBody>
          <a:bodyP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endParaRPr lang="en-US" sz="2700" dirty="0"/>
          </a:p>
        </p:txBody>
      </p:sp>
      <p:sp>
        <p:nvSpPr>
          <p:cNvPr id="4" name="Rectangle 3"/>
          <p:cNvSpPr/>
          <p:nvPr/>
        </p:nvSpPr>
        <p:spPr>
          <a:xfrm>
            <a:off x="304800" y="213933"/>
            <a:ext cx="8418788" cy="707886"/>
          </a:xfrm>
          <a:prstGeom prst="rect">
            <a:avLst/>
          </a:prstGeom>
        </p:spPr>
        <p:txBody>
          <a:bodyPr wrap="square">
            <a:spAutoFit/>
          </a:bodyPr>
          <a:lstStyle/>
          <a:p>
            <a:pPr algn="ctr"/>
            <a:r>
              <a:rPr lang="en-US" sz="2200" b="1" dirty="0">
                <a:latin typeface="Times New Roman" panose="02020603050405020304" pitchFamily="18" charset="0"/>
                <a:cs typeface="Times New Roman" panose="02020603050405020304" pitchFamily="18" charset="0"/>
              </a:rPr>
              <a:t>Future Scope</a:t>
            </a:r>
            <a:br>
              <a:rPr lang="en-US" b="1" dirty="0"/>
            </a:br>
            <a:endParaRPr lang="en-US" dirty="0"/>
          </a:p>
        </p:txBody>
      </p:sp>
      <p:sp>
        <p:nvSpPr>
          <p:cNvPr id="6" name="Slide Number Placeholder 5"/>
          <p:cNvSpPr>
            <a:spLocks noGrp="1"/>
          </p:cNvSpPr>
          <p:nvPr>
            <p:ph type="sldNum" sz="quarter" idx="12"/>
          </p:nvPr>
        </p:nvSpPr>
        <p:spPr/>
        <p:txBody>
          <a:bodyPr/>
          <a:lstStyle/>
          <a:p>
            <a:fld id="{974D6F18-1E43-4B37-903B-99F7EF8299C6}" type="slidenum">
              <a:rPr lang="en-US" smtClean="0"/>
              <a:pPr/>
              <a:t>21</a:t>
            </a:fld>
            <a:endParaRPr lang="en-US" dirty="0"/>
          </a:p>
        </p:txBody>
      </p:sp>
      <p:graphicFrame>
        <p:nvGraphicFramePr>
          <p:cNvPr id="9" name="Text Placeholder 2">
            <a:extLst>
              <a:ext uri="{FF2B5EF4-FFF2-40B4-BE49-F238E27FC236}">
                <a16:creationId xmlns:a16="http://schemas.microsoft.com/office/drawing/2014/main" id="{618CE406-FA79-80C1-2468-ECF35B6A1A6D}"/>
              </a:ext>
            </a:extLst>
          </p:cNvPr>
          <p:cNvGraphicFramePr/>
          <p:nvPr>
            <p:extLst>
              <p:ext uri="{D42A27DB-BD31-4B8C-83A1-F6EECF244321}">
                <p14:modId xmlns:p14="http://schemas.microsoft.com/office/powerpoint/2010/main" val="1983101910"/>
              </p:ext>
            </p:extLst>
          </p:nvPr>
        </p:nvGraphicFramePr>
        <p:xfrm>
          <a:off x="480789" y="763480"/>
          <a:ext cx="8487053" cy="5637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6004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6129"/>
            <a:ext cx="4851603" cy="5925741"/>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5" name="Picture 14">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13200"/>
          <a:stretch/>
        </p:blipFill>
        <p:spPr>
          <a:xfrm>
            <a:off x="0" y="466129"/>
            <a:ext cx="9144000" cy="5925741"/>
          </a:xfrm>
          <a:prstGeom prst="rect">
            <a:avLst/>
          </a:prstGeom>
        </p:spPr>
      </p:pic>
      <p:sp>
        <p:nvSpPr>
          <p:cNvPr id="4" name="Rectangle 3"/>
          <p:cNvSpPr/>
          <p:nvPr/>
        </p:nvSpPr>
        <p:spPr>
          <a:xfrm>
            <a:off x="5020022" y="201433"/>
            <a:ext cx="3733482" cy="109053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2400" b="1" kern="1200" dirty="0">
                <a:solidFill>
                  <a:srgbClr val="000000"/>
                </a:solidFill>
                <a:latin typeface="Times New Roman" panose="02020603050405020304" pitchFamily="18" charset="0"/>
                <a:ea typeface="+mj-ea"/>
                <a:cs typeface="Times New Roman" panose="02020603050405020304" pitchFamily="18" charset="0"/>
              </a:rPr>
              <a:t>Conclusion</a:t>
            </a:r>
          </a:p>
        </p:txBody>
      </p:sp>
      <p:sp>
        <p:nvSpPr>
          <p:cNvPr id="17"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86286"/>
            <a:ext cx="4320692" cy="4666770"/>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6" name="TextBox 5">
            <a:extLst>
              <a:ext uri="{FF2B5EF4-FFF2-40B4-BE49-F238E27FC236}">
                <a16:creationId xmlns:a16="http://schemas.microsoft.com/office/drawing/2014/main" id="{B54FCD23-5846-42B2-6BEF-DF194935AAF7}"/>
              </a:ext>
            </a:extLst>
          </p:cNvPr>
          <p:cNvSpPr txBox="1"/>
          <p:nvPr/>
        </p:nvSpPr>
        <p:spPr>
          <a:xfrm>
            <a:off x="4872384" y="1168968"/>
            <a:ext cx="3733184" cy="4216693"/>
          </a:xfrm>
          <a:prstGeom prst="rect">
            <a:avLst/>
          </a:prstGeom>
        </p:spPr>
        <p:txBody>
          <a:bodyPr vert="horz" lIns="91440" tIns="45720" rIns="91440" bIns="45720" rtlCol="0" anchor="ctr">
            <a:normAutofit/>
          </a:bodyPr>
          <a:lstStyle/>
          <a:p>
            <a:pPr algn="just">
              <a:lnSpc>
                <a:spcPct val="90000"/>
              </a:lnSpc>
              <a:spcAft>
                <a:spcPts val="600"/>
              </a:spcAft>
            </a:pPr>
            <a:endParaRPr lang="en-US" sz="1300" dirty="0">
              <a:solidFill>
                <a:srgbClr val="000000"/>
              </a:solidFill>
            </a:endParaRPr>
          </a:p>
        </p:txBody>
      </p:sp>
      <p:pic>
        <p:nvPicPr>
          <p:cNvPr id="7" name="logoNode0">
            <a:extLst>
              <a:ext uri="{FF2B5EF4-FFF2-40B4-BE49-F238E27FC236}">
                <a16:creationId xmlns:a16="http://schemas.microsoft.com/office/drawing/2014/main" id="{34F9FEB7-5716-2CA6-F51E-EA39A8258C19}"/>
              </a:ext>
            </a:extLst>
          </p:cNvPr>
          <p:cNvPicPr>
            <a:picLocks noChangeAspect="1"/>
          </p:cNvPicPr>
          <p:nvPr/>
        </p:nvPicPr>
        <p:blipFill>
          <a:blip r:embed="rId3">
            <a:alphaModFix/>
            <a:extLst>
              <a:ext uri="{28A0092B-C50C-407E-A947-70E740481C1C}">
                <a14:useLocalDpi xmlns:a14="http://schemas.microsoft.com/office/drawing/2010/main" val="0"/>
              </a:ext>
            </a:extLst>
          </a:blip>
          <a:srcRect l="1454" r="2999" b="-4"/>
          <a:stretch>
            <a:fillRect/>
          </a:stretch>
        </p:blipFill>
        <p:spPr bwMode="auto">
          <a:xfrm>
            <a:off x="0" y="1406170"/>
            <a:ext cx="4038580" cy="4227002"/>
          </a:xfrm>
          <a:custGeom>
            <a:avLst/>
            <a:gdLst/>
            <a:ahLst/>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effectLst>
            <a:softEdge rad="0"/>
          </a:effectLst>
        </p:spPr>
      </p:pic>
      <p:sp>
        <p:nvSpPr>
          <p:cNvPr id="5" name="Text Placeholder 2">
            <a:extLst>
              <a:ext uri="{FF2B5EF4-FFF2-40B4-BE49-F238E27FC236}">
                <a16:creationId xmlns:a16="http://schemas.microsoft.com/office/drawing/2014/main" id="{8FA94074-37A1-016D-52F4-A794F7319757}"/>
              </a:ext>
            </a:extLst>
          </p:cNvPr>
          <p:cNvSpPr txBox="1">
            <a:spLocks/>
          </p:cNvSpPr>
          <p:nvPr/>
        </p:nvSpPr>
        <p:spPr>
          <a:xfrm>
            <a:off x="304474" y="928209"/>
            <a:ext cx="8596668" cy="3226541"/>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B7B4060-D4AF-2934-20A2-5F8C8950AD03}"/>
              </a:ext>
            </a:extLst>
          </p:cNvPr>
          <p:cNvSpPr txBox="1"/>
          <p:nvPr/>
        </p:nvSpPr>
        <p:spPr>
          <a:xfrm>
            <a:off x="4343054" y="987461"/>
            <a:ext cx="4724746" cy="5355312"/>
          </a:xfrm>
          <a:prstGeom prst="rect">
            <a:avLst/>
          </a:prstGeom>
          <a:noFill/>
        </p:spPr>
        <p:txBody>
          <a:bodyPr wrap="square">
            <a:spAutoFit/>
          </a:bodyPr>
          <a:lstStyle/>
          <a:p>
            <a:pPr algn="just">
              <a:buNone/>
            </a:pPr>
            <a:r>
              <a:rPr lang="en-IN" dirty="0">
                <a:latin typeface="Times New Roman" panose="02020603050405020304" pitchFamily="18" charset="0"/>
                <a:cs typeface="Times New Roman" panose="02020603050405020304" pitchFamily="18" charset="0"/>
              </a:rPr>
              <a:t>	The project “TITAN 72V: Electrical Racing Battery Pack Using Smart BMS” enabled us to design and develop a high-performance, reliable, and safe battery pack for electric racing vehicles.</a:t>
            </a:r>
          </a:p>
          <a:p>
            <a:pPr algn="just">
              <a:buNone/>
            </a:pPr>
            <a:r>
              <a:rPr lang="en-IN" dirty="0">
                <a:latin typeface="Times New Roman" panose="02020603050405020304" pitchFamily="18" charset="0"/>
                <a:cs typeface="Times New Roman" panose="02020603050405020304" pitchFamily="18" charset="0"/>
              </a:rPr>
              <a:t>	Furthermore, the project bridged the gap between theoretical concepts learned in the classroom and real-world engineering applications. It allowed us to apply engineering principles to solve practical challenges related to energy storage, battery protection, and vehicle performance.</a:t>
            </a:r>
          </a:p>
          <a:p>
            <a:pPr algn="just">
              <a:buNone/>
            </a:pPr>
            <a:r>
              <a:rPr lang="en-IN" dirty="0">
                <a:latin typeface="Times New Roman" panose="02020603050405020304" pitchFamily="18" charset="0"/>
                <a:cs typeface="Times New Roman" panose="02020603050405020304" pitchFamily="18" charset="0"/>
              </a:rPr>
              <a:t>	Overall, this project provided a strong foundation for future careers in electric vehicles, battery systems, energy storage, and advanced automotive technologies. It strengthened our technical knowledge, problem-solving abilities, and confidence in working on innovative engineering projects.</a:t>
            </a:r>
          </a:p>
        </p:txBody>
      </p:sp>
    </p:spTree>
    <p:extLst>
      <p:ext uri="{BB962C8B-B14F-4D97-AF65-F5344CB8AC3E}">
        <p14:creationId xmlns:p14="http://schemas.microsoft.com/office/powerpoint/2010/main" val="1680279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68133-FCE7-7C5A-A557-24E664914374}"/>
              </a:ext>
            </a:extLst>
          </p:cNvPr>
          <p:cNvSpPr>
            <a:spLocks noGrp="1"/>
          </p:cNvSpPr>
          <p:nvPr>
            <p:ph type="title"/>
          </p:nvPr>
        </p:nvSpPr>
        <p:spPr>
          <a:xfrm>
            <a:off x="457200" y="136525"/>
            <a:ext cx="8229600" cy="457199"/>
          </a:xfrm>
        </p:spPr>
        <p:txBody>
          <a:bodyPr>
            <a:noAutofit/>
          </a:bodyPr>
          <a:lstStyle/>
          <a:p>
            <a:r>
              <a:rPr lang="en-IN" sz="24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2E0BF39C-DE84-1977-8867-3A70F9316E79}"/>
              </a:ext>
            </a:extLst>
          </p:cNvPr>
          <p:cNvSpPr>
            <a:spLocks noGrp="1"/>
          </p:cNvSpPr>
          <p:nvPr>
            <p:ph idx="1"/>
          </p:nvPr>
        </p:nvSpPr>
        <p:spPr>
          <a:xfrm>
            <a:off x="457200" y="614506"/>
            <a:ext cx="8229600" cy="5862494"/>
          </a:xfrm>
        </p:spPr>
        <p:txBody>
          <a:bodyPr>
            <a:normAutofit/>
          </a:bodyPr>
          <a:lstStyle/>
          <a:p>
            <a:pPr marL="457200" indent="-457200" algn="just">
              <a:buAutoNum type="arabicPeriod"/>
            </a:pPr>
            <a:r>
              <a:rPr lang="en-IN" sz="2000" dirty="0">
                <a:latin typeface="Times New Roman" panose="02020603050405020304" pitchFamily="18" charset="0"/>
                <a:cs typeface="Times New Roman" panose="02020603050405020304" pitchFamily="18" charset="0"/>
              </a:rPr>
              <a:t>N. </a:t>
            </a:r>
            <a:r>
              <a:rPr lang="en-IN" sz="2000" dirty="0" err="1">
                <a:latin typeface="Times New Roman" panose="02020603050405020304" pitchFamily="18" charset="0"/>
                <a:cs typeface="Times New Roman" panose="02020603050405020304" pitchFamily="18" charset="0"/>
              </a:rPr>
              <a:t>Tarle</a:t>
            </a:r>
            <a:r>
              <a:rPr lang="en-IN" sz="2000" dirty="0">
                <a:latin typeface="Times New Roman" panose="02020603050405020304" pitchFamily="18" charset="0"/>
                <a:cs typeface="Times New Roman" panose="02020603050405020304" pitchFamily="18" charset="0"/>
              </a:rPr>
              <a:t>, N. </a:t>
            </a:r>
            <a:r>
              <a:rPr lang="en-IN" sz="2000" dirty="0" err="1">
                <a:latin typeface="Times New Roman" panose="02020603050405020304" pitchFamily="18" charset="0"/>
                <a:cs typeface="Times New Roman" panose="02020603050405020304" pitchFamily="18" charset="0"/>
              </a:rPr>
              <a:t>Desale</a:t>
            </a:r>
            <a:r>
              <a:rPr lang="en-IN" sz="2000" dirty="0">
                <a:latin typeface="Times New Roman" panose="02020603050405020304" pitchFamily="18" charset="0"/>
                <a:cs typeface="Times New Roman" panose="02020603050405020304" pitchFamily="18" charset="0"/>
              </a:rPr>
              <a:t>, R. Kulkarni, and V. Pawar, “Design of a Battery Management System for Formula Student Electric Race Vehicle,” </a:t>
            </a:r>
            <a:r>
              <a:rPr lang="en-IN" sz="2000" i="1" dirty="0">
                <a:latin typeface="Times New Roman" panose="02020603050405020304" pitchFamily="18" charset="0"/>
                <a:cs typeface="Times New Roman" panose="02020603050405020304" pitchFamily="18" charset="0"/>
              </a:rPr>
              <a:t>2019 5th International Conference on Computing Communication Control and Automation (ICCUBEA)</a:t>
            </a:r>
            <a:r>
              <a:rPr lang="en-IN" sz="2000" dirty="0">
                <a:latin typeface="Times New Roman" panose="02020603050405020304" pitchFamily="18" charset="0"/>
                <a:cs typeface="Times New Roman" panose="02020603050405020304" pitchFamily="18" charset="0"/>
              </a:rPr>
              <a:t>, Pune, India, 2019, pp. 1–7. doi:10.1109/ICCUBEA47591.2019.9128526</a:t>
            </a:r>
          </a:p>
          <a:p>
            <a:pPr marL="457200" indent="-457200" algn="just">
              <a:buAutoNum type="arabicPeriod"/>
            </a:pPr>
            <a:r>
              <a:rPr lang="en-IN" sz="2000" dirty="0">
                <a:latin typeface="Times New Roman" panose="02020603050405020304" pitchFamily="18" charset="0"/>
                <a:cs typeface="Times New Roman" panose="02020603050405020304" pitchFamily="18" charset="0"/>
              </a:rPr>
              <a:t>X. Peng, A. Garg, J. Zhang, and L. Shui, “Thermal Management System Design for Batteries Packs of Electric Vehicles: A Survey,” </a:t>
            </a:r>
            <a:r>
              <a:rPr lang="en-IN" sz="2000" i="1" dirty="0">
                <a:latin typeface="Times New Roman" panose="02020603050405020304" pitchFamily="18" charset="0"/>
                <a:cs typeface="Times New Roman" panose="02020603050405020304" pitchFamily="18" charset="0"/>
              </a:rPr>
              <a:t>2017 IEEE International Conference on Applied System Innovation (ICASI/ACEPT)</a:t>
            </a:r>
            <a:r>
              <a:rPr lang="en-IN" sz="2000" dirty="0">
                <a:latin typeface="Times New Roman" panose="02020603050405020304" pitchFamily="18" charset="0"/>
                <a:cs typeface="Times New Roman" panose="02020603050405020304" pitchFamily="18" charset="0"/>
              </a:rPr>
              <a:t>, Sapporo, Japan, 2017, pp. 1–7.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10.1109/ACEPT.2017.8168557.</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S. Biswas, “Thermal Management System and Performance Characteristics of Electric Vehicle,” SAE Technical Paper 2020-28-0022, Aug. 2020. IEEE style reference</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 W. Shen and N. Wang, “Simulation and Control of Battery Thermal Management System for Electric Vehicle,” SAE Technical Paper 2022-01-7016, Mar. 31 2022. IEEE style reference:</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24C11B7-285D-ABA2-0653-8B0CEF2B3B56}"/>
              </a:ext>
            </a:extLst>
          </p:cNvPr>
          <p:cNvSpPr>
            <a:spLocks noGrp="1"/>
          </p:cNvSpPr>
          <p:nvPr>
            <p:ph type="sldNum" sz="quarter" idx="12"/>
          </p:nvPr>
        </p:nvSpPr>
        <p:spPr/>
        <p:txBody>
          <a:bodyPr/>
          <a:lstStyle/>
          <a:p>
            <a:fld id="{974D6F18-1E43-4B37-903B-99F7EF8299C6}" type="slidenum">
              <a:rPr lang="en-US" smtClean="0"/>
              <a:pPr/>
              <a:t>23</a:t>
            </a:fld>
            <a:endParaRPr lang="en-US" dirty="0"/>
          </a:p>
        </p:txBody>
      </p:sp>
    </p:spTree>
    <p:extLst>
      <p:ext uri="{BB962C8B-B14F-4D97-AF65-F5344CB8AC3E}">
        <p14:creationId xmlns:p14="http://schemas.microsoft.com/office/powerpoint/2010/main" val="5053931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14350" indent="-514350" algn="l"/>
            <a:br>
              <a:rPr lang="en-US" dirty="0"/>
            </a:br>
            <a:endParaRPr lang="en-US" dirty="0"/>
          </a:p>
        </p:txBody>
      </p:sp>
      <p:sp>
        <p:nvSpPr>
          <p:cNvPr id="4" name="Slide Number Placeholder 3"/>
          <p:cNvSpPr>
            <a:spLocks noGrp="1"/>
          </p:cNvSpPr>
          <p:nvPr>
            <p:ph type="sldNum" sz="quarter" idx="12"/>
          </p:nvPr>
        </p:nvSpPr>
        <p:spPr/>
        <p:txBody>
          <a:bodyPr/>
          <a:lstStyle/>
          <a:p>
            <a:fld id="{974D6F18-1E43-4B37-903B-99F7EF8299C6}" type="slidenum">
              <a:rPr lang="en-US" smtClean="0"/>
              <a:pPr/>
              <a:t>24</a:t>
            </a:fld>
            <a:endParaRPr lang="en-US" dirty="0"/>
          </a:p>
        </p:txBody>
      </p:sp>
      <p:pic>
        <p:nvPicPr>
          <p:cNvPr id="5"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6063" y="182435"/>
            <a:ext cx="8897937" cy="8843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2057400" y="228600"/>
            <a:ext cx="48006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Dr. Vithalrao Vikhe </a:t>
            </a:r>
            <a:r>
              <a:rPr kumimoji="0" lang="en-US" sz="1400" b="1"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Patil</a:t>
            </a: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College of Engineering, Ahmednagar</a:t>
            </a:r>
            <a:endParaRPr kumimoji="0" lang="en-US" sz="9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Department of Electrical Engineering</a:t>
            </a: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endParaRPr kumimoji="0" lang="en-US" sz="9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3" name="Rectangle 2"/>
          <p:cNvSpPr/>
          <p:nvPr/>
        </p:nvSpPr>
        <p:spPr>
          <a:xfrm>
            <a:off x="762000" y="1322283"/>
            <a:ext cx="5486400" cy="400110"/>
          </a:xfrm>
          <a:prstGeom prst="rect">
            <a:avLst/>
          </a:prstGeom>
        </p:spPr>
        <p:txBody>
          <a:bodyPr wrap="square">
            <a:spAutoFit/>
          </a:bodyPr>
          <a:lstStyle/>
          <a:p>
            <a:endParaRPr lang="en-US" sz="2000" dirty="0">
              <a:latin typeface="Times New Roman" pitchFamily="18" charset="0"/>
              <a:cs typeface="Times New Roman" pitchFamily="18" charset="0"/>
            </a:endParaRPr>
          </a:p>
        </p:txBody>
      </p:sp>
      <p:sp>
        <p:nvSpPr>
          <p:cNvPr id="7" name="Rectangle 6"/>
          <p:cNvSpPr/>
          <p:nvPr/>
        </p:nvSpPr>
        <p:spPr>
          <a:xfrm>
            <a:off x="3469742" y="3285784"/>
            <a:ext cx="2277542" cy="461665"/>
          </a:xfrm>
          <a:prstGeom prst="rect">
            <a:avLst/>
          </a:prstGeom>
        </p:spPr>
        <p:txBody>
          <a:bodyPr wrap="square">
            <a:spAutoFit/>
          </a:bodyPr>
          <a:lstStyle/>
          <a:p>
            <a:pPr algn="ctr"/>
            <a:r>
              <a:rPr lang="en-US" sz="2400" b="1" dirty="0">
                <a:latin typeface="Times New Roman" panose="02020603050405020304" pitchFamily="18" charset="0"/>
                <a:cs typeface="Times New Roman" panose="02020603050405020304" pitchFamily="18" charset="0"/>
              </a:rPr>
              <a:t>THANK YOU</a:t>
            </a:r>
            <a:endParaRPr lang="en-US" sz="2400" b="1" dirty="0"/>
          </a:p>
        </p:txBody>
      </p:sp>
      <p:sp>
        <p:nvSpPr>
          <p:cNvPr id="9" name="Text Placeholder 2">
            <a:extLst>
              <a:ext uri="{FF2B5EF4-FFF2-40B4-BE49-F238E27FC236}">
                <a16:creationId xmlns:a16="http://schemas.microsoft.com/office/drawing/2014/main" id="{7B7C5A57-0065-F3E6-A7E0-7C0F4972B63F}"/>
              </a:ext>
            </a:extLst>
          </p:cNvPr>
          <p:cNvSpPr txBox="1">
            <a:spLocks/>
          </p:cNvSpPr>
          <p:nvPr/>
        </p:nvSpPr>
        <p:spPr>
          <a:xfrm>
            <a:off x="4550644" y="6172200"/>
            <a:ext cx="4614712" cy="59924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04785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A6DBA32-39F0-440E-923D-9B4E66787CD3}">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2637</TotalTime>
  <Words>1930</Words>
  <Application>Microsoft Office PowerPoint</Application>
  <PresentationFormat>On-screen Show (4:3)</PresentationFormat>
  <Paragraphs>261</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Times New Roman</vt:lpstr>
      <vt:lpstr>Wingdings</vt:lpstr>
      <vt:lpstr>Office Theme</vt:lpstr>
      <vt:lpstr>PowerPoint Presentation</vt:lpstr>
      <vt:lpstr>PowerPoint Presentation</vt:lpstr>
      <vt:lpstr>Abstract</vt:lpstr>
      <vt:lpstr>PowerPoint Presentation</vt:lpstr>
      <vt:lpstr>Literature survey</vt:lpstr>
      <vt:lpstr>PowerPoint Presentation</vt:lpstr>
      <vt:lpstr>Block Diagram</vt:lpstr>
      <vt:lpstr>Cell Characteristics</vt:lpstr>
      <vt:lpstr>Working process</vt:lpstr>
      <vt:lpstr>Block Diagram Of Cell</vt:lpstr>
      <vt:lpstr>PowerPoint Presentation</vt:lpstr>
      <vt:lpstr>Objectives</vt:lpstr>
      <vt:lpstr>PowerPoint Presentation</vt:lpstr>
      <vt:lpstr>Daly Smart Active Balance BMS Connection Layout</vt:lpstr>
      <vt:lpstr>Advantage and Disadvantages</vt:lpstr>
      <vt:lpstr>PowerPoint Presentation</vt:lpstr>
      <vt:lpstr>PowerPoint Presentation</vt:lpstr>
      <vt:lpstr>Cooling Method Used</vt:lpstr>
      <vt:lpstr>PowerPoint Presentation</vt:lpstr>
      <vt:lpstr>Battery Testing</vt:lpstr>
      <vt:lpstr>PowerPoint Presentation</vt:lpstr>
      <vt:lpstr>PowerPoint Presentation</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c:creator>
  <cp:lastModifiedBy>prathamesh gangode</cp:lastModifiedBy>
  <cp:revision>253</cp:revision>
  <dcterms:created xsi:type="dcterms:W3CDTF">2021-10-07T07:17:06Z</dcterms:created>
  <dcterms:modified xsi:type="dcterms:W3CDTF">2026-06-25T09:02:02Z</dcterms:modified>
</cp:coreProperties>
</file>